
<file path=[Content_Types].xml><?xml version="1.0" encoding="utf-8"?>
<Types xmlns="http://schemas.openxmlformats.org/package/2006/content-types">
  <Default Extension="jpeg" ContentType="image/jpeg"/>
  <Default Extension="JPG" ContentType="image/.jp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docProps/custom.xml" ContentType="application/vnd.openxmlformats-officedocument.custom-properties+xml"/>
  <Override PartName="/ppt/fonts/font1.fntdata" ContentType="application/x-fontdata"/>
  <Override PartName="/ppt/fonts/font2.fntdata" ContentType="application/x-fontdata"/>
  <Override PartName="/ppt/fonts/font3.fntdata" ContentType="application/x-fontdata"/>
  <Override PartName="/ppt/fonts/font4.fntdata" ContentType="application/x-fontdata"/>
  <Override PartName="/ppt/fonts/font5.fntdata" ContentType="application/x-fontdata"/>
  <Override PartName="/ppt/fonts/font6.fntdata" ContentType="application/x-fontdata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ags/tag1.xml" ContentType="application/vnd.openxmlformats-officedocument.presentationml.tags+xml"/>
  <Override PartName="/ppt/tags/tag10.xml" ContentType="application/vnd.openxmlformats-officedocument.presentationml.tags+xml"/>
  <Override PartName="/ppt/tags/tag11.xml" ContentType="application/vnd.openxmlformats-officedocument.presentationml.tags+xml"/>
  <Override PartName="/ppt/tags/tag12.xml" ContentType="application/vnd.openxmlformats-officedocument.presentationml.tags+xml"/>
  <Override PartName="/ppt/tags/tag13.xml" ContentType="application/vnd.openxmlformats-officedocument.presentationml.tags+xml"/>
  <Override PartName="/ppt/tags/tag14.xml" ContentType="application/vnd.openxmlformats-officedocument.presentationml.tags+xml"/>
  <Override PartName="/ppt/tags/tag15.xml" ContentType="application/vnd.openxmlformats-officedocument.presentationml.tags+xml"/>
  <Override PartName="/ppt/tags/tag16.xml" ContentType="application/vnd.openxmlformats-officedocument.presentationml.tags+xml"/>
  <Override PartName="/ppt/tags/tag17.xml" ContentType="application/vnd.openxmlformats-officedocument.presentationml.tags+xml"/>
  <Override PartName="/ppt/tags/tag18.xml" ContentType="application/vnd.openxmlformats-officedocument.presentationml.tags+xml"/>
  <Override PartName="/ppt/tags/tag19.xml" ContentType="application/vnd.openxmlformats-officedocument.presentationml.tags+xml"/>
  <Override PartName="/ppt/tags/tag2.xml" ContentType="application/vnd.openxmlformats-officedocument.presentationml.tags+xml"/>
  <Override PartName="/ppt/tags/tag20.xml" ContentType="application/vnd.openxmlformats-officedocument.presentationml.tags+xml"/>
  <Override PartName="/ppt/tags/tag21.xml" ContentType="application/vnd.openxmlformats-officedocument.presentationml.tags+xml"/>
  <Override PartName="/ppt/tags/tag22.xml" ContentType="application/vnd.openxmlformats-officedocument.presentationml.tags+xml"/>
  <Override PartName="/ppt/tags/tag23.xml" ContentType="application/vnd.openxmlformats-officedocument.presentationml.tags+xml"/>
  <Override PartName="/ppt/tags/tag24.xml" ContentType="application/vnd.openxmlformats-officedocument.presentationml.tags+xml"/>
  <Override PartName="/ppt/tags/tag25.xml" ContentType="application/vnd.openxmlformats-officedocument.presentationml.tags+xml"/>
  <Override PartName="/ppt/tags/tag26.xml" ContentType="application/vnd.openxmlformats-officedocument.presentationml.tags+xml"/>
  <Override PartName="/ppt/tags/tag27.xml" ContentType="application/vnd.openxmlformats-officedocument.presentationml.tags+xml"/>
  <Override PartName="/ppt/tags/tag28.xml" ContentType="application/vnd.openxmlformats-officedocument.presentationml.tags+xml"/>
  <Override PartName="/ppt/tags/tag29.xml" ContentType="application/vnd.openxmlformats-officedocument.presentationml.tags+xml"/>
  <Override PartName="/ppt/tags/tag3.xml" ContentType="application/vnd.openxmlformats-officedocument.presentationml.tags+xml"/>
  <Override PartName="/ppt/tags/tag30.xml" ContentType="application/vnd.openxmlformats-officedocument.presentationml.tags+xml"/>
  <Override PartName="/ppt/tags/tag31.xml" ContentType="application/vnd.openxmlformats-officedocument.presentationml.tags+xml"/>
  <Override PartName="/ppt/tags/tag32.xml" ContentType="application/vnd.openxmlformats-officedocument.presentationml.tags+xml"/>
  <Override PartName="/ppt/tags/tag33.xml" ContentType="application/vnd.openxmlformats-officedocument.presentationml.tags+xml"/>
  <Override PartName="/ppt/tags/tag34.xml" ContentType="application/vnd.openxmlformats-officedocument.presentationml.tags+xml"/>
  <Override PartName="/ppt/tags/tag35.xml" ContentType="application/vnd.openxmlformats-officedocument.presentationml.tags+xml"/>
  <Override PartName="/ppt/tags/tag36.xml" ContentType="application/vnd.openxmlformats-officedocument.presentationml.tags+xml"/>
  <Override PartName="/ppt/tags/tag37.xml" ContentType="application/vnd.openxmlformats-officedocument.presentationml.tags+xml"/>
  <Override PartName="/ppt/tags/tag38.xml" ContentType="application/vnd.openxmlformats-officedocument.presentationml.tags+xml"/>
  <Override PartName="/ppt/tags/tag39.xml" ContentType="application/vnd.openxmlformats-officedocument.presentationml.tags+xml"/>
  <Override PartName="/ppt/tags/tag4.xml" ContentType="application/vnd.openxmlformats-officedocument.presentationml.tags+xml"/>
  <Override PartName="/ppt/tags/tag5.xml" ContentType="application/vnd.openxmlformats-officedocument.presentationml.tags+xml"/>
  <Override PartName="/ppt/tags/tag6.xml" ContentType="application/vnd.openxmlformats-officedocument.presentationml.tags+xml"/>
  <Override PartName="/ppt/tags/tag7.xml" ContentType="application/vnd.openxmlformats-officedocument.presentationml.tags+xml"/>
  <Override PartName="/ppt/tags/tag8.xml" ContentType="application/vnd.openxmlformats-officedocument.presentationml.tags+xml"/>
  <Override PartName="/ppt/tags/tag9.xml" ContentType="application/vnd.openxmlformats-officedocument.presentationml.tag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"1.0" encoding="UTF-8" standalone="yes"?>
<Relationships xmlns="http://schemas.openxmlformats.org/package/2006/relationships"><Relationship Id="rId1" Type="http://schemas.openxmlformats.org/officeDocument/2006/relationships/officeDocument" Target="ppt/presentation.xml"/><Relationship Id="rId4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2" Type="http://schemas.openxmlformats.org/officeDocument/2006/relationships/extended-properties" Target="docProps/app.xml"/><Relationship Id="rId5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embedTrueTypeFonts="1" saveSubsetFonts="1" autoCompressPictures="0">
  <p:sldMasterIdLst>
    <p:sldMasterId id="2147483648" r:id="rId1"/>
  </p:sldMasterIdLst>
  <p:sldIdLst>
    <p:sldId id="256" r:id="rId3"/>
    <p:sldId id="257" r:id="rId4"/>
    <p:sldId id="258" r:id="rId5"/>
    <p:sldId id="259" r:id="rId6"/>
    <p:sldId id="260" r:id="rId7"/>
    <p:sldId id="261" r:id="rId8"/>
    <p:sldId id="263" r:id="rId9"/>
    <p:sldId id="264" r:id="rId10"/>
    <p:sldId id="265" r:id="rId11"/>
    <p:sldId id="266" r:id="rId12"/>
    <p:sldId id="267" r:id="rId13"/>
    <p:sldId id="268" r:id="rId14"/>
    <p:sldId id="269" r:id="rId15"/>
  </p:sldIdLst>
  <p:sldSz cx="12192000" cy="6858000" type="screen4x3"/>
  <p:notesSz cx="6858000" cy="9144000"/>
  <p:embeddedFontLst>
    <p:embeddedFont>
      <p:font typeface="Noto Sans SC" panose="020B0200000000000000" charset="-122"/>
      <p:regular r:id="rId19"/>
      <p:bold r:id="rId20"/>
    </p:embeddedFont>
    <p:embeddedFont>
      <p:font typeface="Calibri" panose="020F0502020204030204" charset="0"/>
      <p:regular r:id="rId21"/>
      <p:bold r:id="rId22"/>
      <p:italic r:id="rId23"/>
      <p:boldItalic r:id="rId24"/>
    </p:embeddedFont>
  </p:embeddedFontLst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 userDrawn="1">
          <p15:clr>
            <a:srgbClr val="A4A3A4"/>
          </p15:clr>
        </p15:guide>
        <p15:guide id="2" pos="2880" userDrawn="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9" Type="http://schemas.openxmlformats.org/officeDocument/2006/relationships/slide" Target="slides/slide7.xml"/><Relationship Id="rId8" Type="http://schemas.openxmlformats.org/officeDocument/2006/relationships/slide" Target="slides/slide6.xml"/><Relationship Id="rId7" Type="http://schemas.openxmlformats.org/officeDocument/2006/relationships/slide" Target="slides/slide5.xml"/><Relationship Id="rId6" Type="http://schemas.openxmlformats.org/officeDocument/2006/relationships/slide" Target="slides/slide4.xml"/><Relationship Id="rId5" Type="http://schemas.openxmlformats.org/officeDocument/2006/relationships/slide" Target="slides/slide3.xml"/><Relationship Id="rId4" Type="http://schemas.openxmlformats.org/officeDocument/2006/relationships/slide" Target="slides/slide2.xml"/><Relationship Id="rId3" Type="http://schemas.openxmlformats.org/officeDocument/2006/relationships/slide" Target="slides/slide1.xml"/><Relationship Id="rId24" Type="http://schemas.openxmlformats.org/officeDocument/2006/relationships/font" Target="fonts/font6.fntdata"/><Relationship Id="rId23" Type="http://schemas.openxmlformats.org/officeDocument/2006/relationships/font" Target="fonts/font5.fntdata"/><Relationship Id="rId22" Type="http://schemas.openxmlformats.org/officeDocument/2006/relationships/font" Target="fonts/font4.fntdata"/><Relationship Id="rId21" Type="http://schemas.openxmlformats.org/officeDocument/2006/relationships/font" Target="fonts/font3.fntdata"/><Relationship Id="rId20" Type="http://schemas.openxmlformats.org/officeDocument/2006/relationships/font" Target="fonts/font2.fntdata"/><Relationship Id="rId2" Type="http://schemas.openxmlformats.org/officeDocument/2006/relationships/theme" Target="theme/theme1.xml"/><Relationship Id="rId19" Type="http://schemas.openxmlformats.org/officeDocument/2006/relationships/font" Target="fonts/font1.fntdata"/><Relationship Id="rId18" Type="http://schemas.openxmlformats.org/officeDocument/2006/relationships/tableStyles" Target="tableStyles.xml"/><Relationship Id="rId17" Type="http://schemas.openxmlformats.org/officeDocument/2006/relationships/viewProps" Target="viewProps.xml"/><Relationship Id="rId16" Type="http://schemas.openxmlformats.org/officeDocument/2006/relationships/presProps" Target="presProps.xml"/><Relationship Id="rId15" Type="http://schemas.openxmlformats.org/officeDocument/2006/relationships/slide" Target="slides/slide13.xml"/><Relationship Id="rId14" Type="http://schemas.openxmlformats.org/officeDocument/2006/relationships/slide" Target="slides/slide12.xml"/><Relationship Id="rId13" Type="http://schemas.openxmlformats.org/officeDocument/2006/relationships/slide" Target="slides/slide11.xml"/><Relationship Id="rId12" Type="http://schemas.openxmlformats.org/officeDocument/2006/relationships/slide" Target="slides/slide10.xml"/><Relationship Id="rId11" Type="http://schemas.openxmlformats.org/officeDocument/2006/relationships/slide" Target="slides/slide9.xml"/><Relationship Id="rId10" Type="http://schemas.openxmlformats.org/officeDocument/2006/relationships/slide" Target="slides/slide8.xml"/><Relationship Id="rId1" Type="http://schemas.openxmlformats.org/officeDocument/2006/relationships/slideMaster" Target="slideMasters/slideMaster1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  <a:endParaRPr lang="en-US" smtClean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  <a:endParaRPr lang="en-US" smtClean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  <a:endParaRPr lang="en-US" smtClean="0"/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  <a:endParaRPr lang="en-US" smtClean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  <a:endParaRPr lang="en-US" smtClean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9" Type="http://schemas.openxmlformats.org/officeDocument/2006/relationships/slideLayout" Target="../slideLayouts/slideLayout9.xml"/><Relationship Id="rId8" Type="http://schemas.openxmlformats.org/officeDocument/2006/relationships/slideLayout" Target="../slideLayouts/slideLayout8.xml"/><Relationship Id="rId7" Type="http://schemas.openxmlformats.org/officeDocument/2006/relationships/slideLayout" Target="../slideLayouts/slideLayout7.xml"/><Relationship Id="rId6" Type="http://schemas.openxmlformats.org/officeDocument/2006/relationships/slideLayout" Target="../slideLayouts/slideLayout6.xml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Relationship Id="rId3" Type="http://schemas.openxmlformats.org/officeDocument/2006/relationships/slideLayout" Target="../slideLayouts/slideLayout3.xml"/><Relationship Id="rId2" Type="http://schemas.openxmlformats.org/officeDocument/2006/relationships/slideLayout" Target="../slideLayouts/slideLayout2.xml"/><Relationship Id="rId12" Type="http://schemas.openxmlformats.org/officeDocument/2006/relationships/theme" Target="../theme/theme1.xml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 panose="020B0604020202020204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 panose="020B0604020202020204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 panose="020B0604020202020204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 panose="020B0604020202020204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 panose="020B0604020202020204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 panose="020B0604020202020204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 panose="020B0604020202020204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 panose="020B0604020202020204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 panose="020B0604020202020204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7.xml"/><Relationship Id="rId2" Type="http://schemas.openxmlformats.org/officeDocument/2006/relationships/image" Target="../media/image2.jpeg"/><Relationship Id="rId1" Type="http://schemas.openxmlformats.org/officeDocument/2006/relationships/image" Target="../media/image1.png"/></Relationships>
</file>

<file path=ppt/slides/_rels/slide2.xml.rels><?xml version="1.0" encoding="UTF-8" standalone="yes"?>
<Relationships xmlns="http://schemas.openxmlformats.org/package/2006/relationships"><Relationship Id="rId9" Type="http://schemas.openxmlformats.org/officeDocument/2006/relationships/tags" Target="../tags/tag9.xml"/><Relationship Id="rId8" Type="http://schemas.openxmlformats.org/officeDocument/2006/relationships/tags" Target="../tags/tag8.xml"/><Relationship Id="rId7" Type="http://schemas.openxmlformats.org/officeDocument/2006/relationships/tags" Target="../tags/tag7.xml"/><Relationship Id="rId6" Type="http://schemas.openxmlformats.org/officeDocument/2006/relationships/tags" Target="../tags/tag6.xml"/><Relationship Id="rId5" Type="http://schemas.openxmlformats.org/officeDocument/2006/relationships/tags" Target="../tags/tag5.xml"/><Relationship Id="rId4" Type="http://schemas.openxmlformats.org/officeDocument/2006/relationships/tags" Target="../tags/tag4.xml"/><Relationship Id="rId3" Type="http://schemas.openxmlformats.org/officeDocument/2006/relationships/tags" Target="../tags/tag3.xml"/><Relationship Id="rId2" Type="http://schemas.openxmlformats.org/officeDocument/2006/relationships/tags" Target="../tags/tag2.xml"/><Relationship Id="rId17" Type="http://schemas.openxmlformats.org/officeDocument/2006/relationships/slideLayout" Target="../slideLayouts/slideLayout7.xml"/><Relationship Id="rId16" Type="http://schemas.openxmlformats.org/officeDocument/2006/relationships/tags" Target="../tags/tag16.xml"/><Relationship Id="rId15" Type="http://schemas.openxmlformats.org/officeDocument/2006/relationships/tags" Target="../tags/tag15.xml"/><Relationship Id="rId14" Type="http://schemas.openxmlformats.org/officeDocument/2006/relationships/tags" Target="../tags/tag14.xml"/><Relationship Id="rId13" Type="http://schemas.openxmlformats.org/officeDocument/2006/relationships/tags" Target="../tags/tag13.xml"/><Relationship Id="rId12" Type="http://schemas.openxmlformats.org/officeDocument/2006/relationships/tags" Target="../tags/tag12.xml"/><Relationship Id="rId11" Type="http://schemas.openxmlformats.org/officeDocument/2006/relationships/tags" Target="../tags/tag11.xml"/><Relationship Id="rId10" Type="http://schemas.openxmlformats.org/officeDocument/2006/relationships/tags" Target="../tags/tag10.xml"/><Relationship Id="rId1" Type="http://schemas.openxmlformats.org/officeDocument/2006/relationships/tags" Target="../tags/tag1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9" Type="http://schemas.openxmlformats.org/officeDocument/2006/relationships/tags" Target="../tags/tag21.xml"/><Relationship Id="rId8" Type="http://schemas.openxmlformats.org/officeDocument/2006/relationships/image" Target="../media/image6.jpeg"/><Relationship Id="rId7" Type="http://schemas.openxmlformats.org/officeDocument/2006/relationships/tags" Target="../tags/tag20.xml"/><Relationship Id="rId6" Type="http://schemas.openxmlformats.org/officeDocument/2006/relationships/image" Target="../media/image5.png"/><Relationship Id="rId5" Type="http://schemas.openxmlformats.org/officeDocument/2006/relationships/tags" Target="../tags/tag19.xml"/><Relationship Id="rId4" Type="http://schemas.openxmlformats.org/officeDocument/2006/relationships/image" Target="../media/image4.png"/><Relationship Id="rId3" Type="http://schemas.openxmlformats.org/officeDocument/2006/relationships/tags" Target="../tags/tag18.xml"/><Relationship Id="rId2" Type="http://schemas.openxmlformats.org/officeDocument/2006/relationships/image" Target="../media/image3.png"/><Relationship Id="rId11" Type="http://schemas.openxmlformats.org/officeDocument/2006/relationships/slideLayout" Target="../slideLayouts/slideLayout7.xml"/><Relationship Id="rId10" Type="http://schemas.openxmlformats.org/officeDocument/2006/relationships/tags" Target="../tags/tag22.xml"/><Relationship Id="rId1" Type="http://schemas.openxmlformats.org/officeDocument/2006/relationships/tags" Target="../tags/tag17.xml"/></Relationships>
</file>

<file path=ppt/slides/_rels/slide5.xml.rels><?xml version="1.0" encoding="UTF-8" standalone="yes"?>
<Relationships xmlns="http://schemas.openxmlformats.org/package/2006/relationships"><Relationship Id="rId4" Type="http://schemas.openxmlformats.org/officeDocument/2006/relationships/slideLayout" Target="../slideLayouts/slideLayout7.xml"/><Relationship Id="rId3" Type="http://schemas.openxmlformats.org/officeDocument/2006/relationships/image" Target="../media/image9.jpeg"/><Relationship Id="rId2" Type="http://schemas.openxmlformats.org/officeDocument/2006/relationships/image" Target="../media/image8.png"/><Relationship Id="rId1" Type="http://schemas.openxmlformats.org/officeDocument/2006/relationships/image" Target="../media/image7.png"/></Relationships>
</file>

<file path=ppt/slides/_rels/slide6.xml.rels><?xml version="1.0" encoding="UTF-8" standalone="yes"?>
<Relationships xmlns="http://schemas.openxmlformats.org/package/2006/relationships"><Relationship Id="rId4" Type="http://schemas.openxmlformats.org/officeDocument/2006/relationships/slideLayout" Target="../slideLayouts/slideLayout7.xml"/><Relationship Id="rId3" Type="http://schemas.openxmlformats.org/officeDocument/2006/relationships/image" Target="../media/image12.png"/><Relationship Id="rId2" Type="http://schemas.openxmlformats.org/officeDocument/2006/relationships/image" Target="../media/image11.png"/><Relationship Id="rId1" Type="http://schemas.openxmlformats.org/officeDocument/2006/relationships/image" Target="../media/image10.png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"1.0" encoding="UTF-8" standalone="yes"?>
<Relationships xmlns="http://schemas.openxmlformats.org/package/2006/relationships"><Relationship Id="rId4" Type="http://schemas.openxmlformats.org/officeDocument/2006/relationships/slideLayout" Target="../slideLayouts/slideLayout7.xml"/><Relationship Id="rId3" Type="http://schemas.openxmlformats.org/officeDocument/2006/relationships/image" Target="../media/image15.jpeg"/><Relationship Id="rId2" Type="http://schemas.openxmlformats.org/officeDocument/2006/relationships/image" Target="../media/image14.jpeg"/><Relationship Id="rId1" Type="http://schemas.openxmlformats.org/officeDocument/2006/relationships/image" Target="../media/image13.png"/></Relationships>
</file>

<file path=ppt/slides/_rels/slide9.xml.rels><?xml version="1.0" encoding="UTF-8" standalone="yes"?>
<Relationships xmlns="http://schemas.openxmlformats.org/package/2006/relationships"><Relationship Id="rId9" Type="http://schemas.openxmlformats.org/officeDocument/2006/relationships/tags" Target="../tags/tag29.xml"/><Relationship Id="rId8" Type="http://schemas.openxmlformats.org/officeDocument/2006/relationships/tags" Target="../tags/tag28.xml"/><Relationship Id="rId7" Type="http://schemas.openxmlformats.org/officeDocument/2006/relationships/tags" Target="../tags/tag27.xml"/><Relationship Id="rId6" Type="http://schemas.openxmlformats.org/officeDocument/2006/relationships/image" Target="../media/image17.png"/><Relationship Id="rId5" Type="http://schemas.openxmlformats.org/officeDocument/2006/relationships/tags" Target="../tags/tag26.xml"/><Relationship Id="rId4" Type="http://schemas.openxmlformats.org/officeDocument/2006/relationships/image" Target="../media/image16.jpeg"/><Relationship Id="rId3" Type="http://schemas.openxmlformats.org/officeDocument/2006/relationships/tags" Target="../tags/tag25.xml"/><Relationship Id="rId2" Type="http://schemas.openxmlformats.org/officeDocument/2006/relationships/tags" Target="../tags/tag24.xml"/><Relationship Id="rId11" Type="http://schemas.openxmlformats.org/officeDocument/2006/relationships/slideLayout" Target="../slideLayouts/slideLayout7.xml"/><Relationship Id="rId10" Type="http://schemas.openxmlformats.org/officeDocument/2006/relationships/tags" Target="../tags/tag30.xml"/><Relationship Id="rId1" Type="http://schemas.openxmlformats.org/officeDocument/2006/relationships/tags" Target="../tags/tag23.xml"/></Relationships>
</file>

<file path=ppt/slides/_rels/slide10.xml.rels><?xml version="1.0" encoding="UTF-8" standalone="yes"?>
<Relationships xmlns="http://schemas.openxmlformats.org/package/2006/relationships"><Relationship Id="rId9" Type="http://schemas.openxmlformats.org/officeDocument/2006/relationships/tags" Target="../tags/tag37.xml"/><Relationship Id="rId8" Type="http://schemas.openxmlformats.org/officeDocument/2006/relationships/tags" Target="../tags/tag36.xml"/><Relationship Id="rId7" Type="http://schemas.openxmlformats.org/officeDocument/2006/relationships/tags" Target="../tags/tag35.xml"/><Relationship Id="rId6" Type="http://schemas.openxmlformats.org/officeDocument/2006/relationships/tags" Target="../tags/tag34.xml"/><Relationship Id="rId5" Type="http://schemas.openxmlformats.org/officeDocument/2006/relationships/image" Target="../media/image19.png"/><Relationship Id="rId4" Type="http://schemas.openxmlformats.org/officeDocument/2006/relationships/image" Target="../media/image18.png"/><Relationship Id="rId3" Type="http://schemas.openxmlformats.org/officeDocument/2006/relationships/tags" Target="../tags/tag33.xml"/><Relationship Id="rId2" Type="http://schemas.openxmlformats.org/officeDocument/2006/relationships/tags" Target="../tags/tag32.xml"/><Relationship Id="rId12" Type="http://schemas.openxmlformats.org/officeDocument/2006/relationships/slideLayout" Target="../slideLayouts/slideLayout7.xml"/><Relationship Id="rId11" Type="http://schemas.openxmlformats.org/officeDocument/2006/relationships/tags" Target="../tags/tag39.xml"/><Relationship Id="rId10" Type="http://schemas.openxmlformats.org/officeDocument/2006/relationships/tags" Target="../tags/tag38.xml"/><Relationship Id="rId1" Type="http://schemas.openxmlformats.org/officeDocument/2006/relationships/tags" Target="../tags/tag31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7.xml"/><Relationship Id="rId2" Type="http://schemas.openxmlformats.org/officeDocument/2006/relationships/image" Target="../media/image21.png"/><Relationship Id="rId1" Type="http://schemas.openxmlformats.org/officeDocument/2006/relationships/image" Target="../media/image20.png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7.xml"/><Relationship Id="rId2" Type="http://schemas.openxmlformats.org/officeDocument/2006/relationships/image" Target="../media/image23.png"/><Relationship Id="rId1" Type="http://schemas.openxmlformats.org/officeDocument/2006/relationships/image" Target="../media/image22.png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609600" y="4273748"/>
            <a:ext cx="609600" cy="38100"/>
          </a:xfrm>
          <a:prstGeom prst="rect">
            <a:avLst/>
          </a:prstGeom>
          <a:solidFill>
            <a:srgbClr val="EA580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" name="Picture 2" descr="image.png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113240" y="762000"/>
            <a:ext cx="4469159" cy="5334000"/>
          </a:xfrm>
          <a:prstGeom prst="rect">
            <a:avLst/>
          </a:prstGeom>
        </p:spPr>
      </p:pic>
      <p:pic>
        <p:nvPicPr>
          <p:cNvPr id="4" name="Picture 3" descr="D:/桌面/edc465b29d455f135381fc7b3db7936c.jpgedc465b29d455f135381fc7b3db7936c"/>
          <p:cNvPicPr>
            <a:picLocks noChangeAspect="1"/>
          </p:cNvPicPr>
          <p:nvPr/>
        </p:nvPicPr>
        <p:blipFill>
          <a:blip r:embed="rId2"/>
          <a:srcRect t="5229" b="5229"/>
          <a:stretch>
            <a:fillRect/>
          </a:stretch>
        </p:blipFill>
        <p:spPr>
          <a:xfrm>
            <a:off x="7113240" y="762000"/>
            <a:ext cx="4469159" cy="5334000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609600" y="2012751"/>
            <a:ext cx="2533650" cy="184150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1200" b="1" i="0" u="none">
                <a:solidFill>
                  <a:srgbClr val="F59E0B"/>
                </a:solidFill>
                <a:latin typeface="Noto Sans SC" panose="020B0200000000000000" charset="-122"/>
              </a:rPr>
              <a:t>EVOBIKE  · </a:t>
            </a:r>
            <a:r>
              <a:rPr lang="zh-CN" sz="1200" b="1" i="0" u="none">
                <a:solidFill>
                  <a:srgbClr val="F59E0B"/>
                </a:solidFill>
                <a:latin typeface="Noto Sans SC" panose="020B0200000000000000" charset="-122"/>
              </a:rPr>
              <a:t>售后总部</a:t>
            </a:r>
            <a:r>
              <a:rPr sz="1200" b="1" i="0" u="none">
                <a:solidFill>
                  <a:srgbClr val="F59E0B"/>
                </a:solidFill>
                <a:latin typeface="Noto Sans SC" panose="020B0200000000000000" charset="-122"/>
              </a:rPr>
              <a:t>经验落地执行版</a:t>
            </a:r>
            <a:endParaRPr sz="1200" b="1" i="0" u="none">
              <a:solidFill>
                <a:srgbClr val="F59E0B"/>
              </a:solidFill>
              <a:latin typeface="Noto Sans SC" panose="020B0200000000000000" charset="-122"/>
            </a:endParaRPr>
          </a:p>
        </p:txBody>
      </p:sp>
      <p:sp>
        <p:nvSpPr>
          <p:cNvPr id="6" name="TextBox 5"/>
          <p:cNvSpPr txBox="1"/>
          <p:nvPr/>
        </p:nvSpPr>
        <p:spPr>
          <a:xfrm>
            <a:off x="609600" y="2365176"/>
            <a:ext cx="6448774" cy="10617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4140"/>
              </a:lnSpc>
            </a:pPr>
            <a:r>
              <a:rPr sz="3450" b="1" i="0" u="none">
                <a:solidFill>
                  <a:srgbClr val="FFFFFF"/>
                </a:solidFill>
                <a:latin typeface="Noto Sans SC" panose="020B0200000000000000" charset="-122"/>
              </a:rPr>
              <a:t>Evobike 公司及门店</a:t>
            </a:r>
            <a:r>
              <a:t>
</a:t>
            </a:r>
            <a:r>
              <a:rPr sz="3450" b="1" i="0" u="none">
                <a:solidFill>
                  <a:srgbClr val="FFFFFF"/>
                </a:solidFill>
                <a:latin typeface="Noto Sans SC" panose="020B0200000000000000" charset="-122"/>
              </a:rPr>
              <a:t> 仓库标准化管理方案</a:t>
            </a:r>
            <a:endParaRPr sz="3450" b="1" i="0" u="none">
              <a:solidFill>
                <a:srgbClr val="FFFFFF"/>
              </a:solidFill>
              <a:latin typeface="Noto Sans SC" panose="020B0200000000000000" charset="-122"/>
            </a:endParaRPr>
          </a:p>
        </p:txBody>
      </p:sp>
      <p:sp>
        <p:nvSpPr>
          <p:cNvPr id="7" name="TextBox 6"/>
          <p:cNvSpPr txBox="1"/>
          <p:nvPr/>
        </p:nvSpPr>
        <p:spPr>
          <a:xfrm>
            <a:off x="609600" y="3645098"/>
            <a:ext cx="7558050" cy="285750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>
              <a:lnSpc>
                <a:spcPts val="2250"/>
              </a:lnSpc>
            </a:pPr>
            <a:r>
              <a:rPr sz="1500" b="0" i="0" u="none">
                <a:solidFill>
                  <a:srgbClr val="CBD5E1"/>
                </a:solidFill>
                <a:latin typeface="Noto Sans SC" panose="020B0200000000000000" charset="-122"/>
              </a:rPr>
              <a:t>全面提升备货效率、空间利用率与库存准确率</a:t>
            </a:r>
            <a:endParaRPr sz="1500" b="0" i="0" u="none">
              <a:solidFill>
                <a:srgbClr val="CBD5E1"/>
              </a:solidFill>
              <a:latin typeface="Noto Sans SC" panose="020B0200000000000000" charset="-122"/>
            </a:endParaRPr>
          </a:p>
        </p:txBody>
      </p:sp>
      <p:sp>
        <p:nvSpPr>
          <p:cNvPr id="8" name="TextBox 7"/>
          <p:cNvSpPr txBox="1"/>
          <p:nvPr/>
        </p:nvSpPr>
        <p:spPr>
          <a:xfrm>
            <a:off x="609600" y="4616648"/>
            <a:ext cx="7558050" cy="228600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1350" b="1" i="0" u="none">
                <a:solidFill>
                  <a:srgbClr val="38BDF8"/>
                </a:solidFill>
                <a:latin typeface="Noto Sans SC" panose="020B0200000000000000" charset="-122"/>
              </a:rPr>
              <a:t>核心准则：分类分区 · 定置定位 · 目视化标识 · 账物相符</a:t>
            </a:r>
            <a:endParaRPr sz="1350" b="1" i="0" u="none">
              <a:solidFill>
                <a:srgbClr val="38BDF8"/>
              </a:solidFill>
              <a:latin typeface="Noto Sans SC" panose="020B0200000000000000" charset="-122"/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>
            <p:custDataLst>
              <p:tags r:id="rId1"/>
            </p:custDataLst>
          </p:nvPr>
        </p:nvSpPr>
        <p:spPr>
          <a:xfrm>
            <a:off x="609600" y="2857500"/>
            <a:ext cx="2571750" cy="2047875"/>
          </a:xfrm>
          <a:prstGeom prst="roundRect">
            <a:avLst>
              <a:gd name="adj" fmla="val 5581"/>
            </a:avLst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>
            <p:custDataLst>
              <p:tags r:id="rId2"/>
            </p:custDataLst>
          </p:nvPr>
        </p:nvSpPr>
        <p:spPr>
          <a:xfrm>
            <a:off x="3409950" y="2857500"/>
            <a:ext cx="2571750" cy="2047875"/>
          </a:xfrm>
          <a:prstGeom prst="roundRect">
            <a:avLst>
              <a:gd name="adj" fmla="val 5581"/>
            </a:avLst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ounded Rectangle 3"/>
          <p:cNvSpPr/>
          <p:nvPr>
            <p:custDataLst>
              <p:tags r:id="rId3"/>
            </p:custDataLst>
          </p:nvPr>
        </p:nvSpPr>
        <p:spPr>
          <a:xfrm>
            <a:off x="6210300" y="2857500"/>
            <a:ext cx="2571750" cy="2047875"/>
          </a:xfrm>
          <a:prstGeom prst="roundRect">
            <a:avLst>
              <a:gd name="adj" fmla="val 5581"/>
            </a:avLst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>
            <p:custDataLst>
              <p:tags r:id="rId4"/>
            </p:custDataLst>
          </p:nvPr>
        </p:nvSpPr>
        <p:spPr>
          <a:xfrm>
            <a:off x="9010650" y="2857500"/>
            <a:ext cx="2571750" cy="2047875"/>
          </a:xfrm>
          <a:prstGeom prst="roundRect">
            <a:avLst>
              <a:gd name="adj" fmla="val 5581"/>
            </a:avLst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609600" y="457200"/>
            <a:ext cx="11582400" cy="180975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1125" b="1" i="0" u="none">
                <a:solidFill>
                  <a:srgbClr val="1D4ED8"/>
                </a:solidFill>
                <a:latin typeface="Noto Sans SC" panose="020B0200000000000000" charset="-122"/>
              </a:rPr>
              <a:t>MANAGEMENT FRAMEWORK · 四大核心管理模块</a:t>
            </a:r>
            <a:endParaRPr sz="1125" b="1" i="0" u="none">
              <a:solidFill>
                <a:srgbClr val="1D4ED8"/>
              </a:solidFill>
              <a:latin typeface="Noto Sans SC" panose="020B0200000000000000" charset="-122"/>
            </a:endParaRPr>
          </a:p>
        </p:txBody>
      </p:sp>
      <p:sp>
        <p:nvSpPr>
          <p:cNvPr id="7" name="TextBox 6"/>
          <p:cNvSpPr txBox="1"/>
          <p:nvPr/>
        </p:nvSpPr>
        <p:spPr>
          <a:xfrm>
            <a:off x="609600" y="714375"/>
            <a:ext cx="11582400" cy="419100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2400" b="1" i="0" u="none">
                <a:solidFill>
                  <a:srgbClr val="0F172A"/>
                </a:solidFill>
                <a:latin typeface="Noto Sans SC" panose="020B0200000000000000" charset="-122"/>
              </a:rPr>
              <a:t>标准化管理方案执行全景</a:t>
            </a:r>
            <a:endParaRPr sz="2400" b="1" i="0" u="none">
              <a:solidFill>
                <a:srgbClr val="0F172A"/>
              </a:solidFill>
              <a:latin typeface="Noto Sans SC" panose="020B0200000000000000" charset="-122"/>
            </a:endParaRPr>
          </a:p>
        </p:txBody>
      </p:sp>
      <p:sp>
        <p:nvSpPr>
          <p:cNvPr id="8" name="TextBox 7"/>
          <p:cNvSpPr txBox="1"/>
          <p:nvPr>
            <p:custDataLst>
              <p:tags r:id="rId5"/>
            </p:custDataLst>
          </p:nvPr>
        </p:nvSpPr>
        <p:spPr>
          <a:xfrm>
            <a:off x="838200" y="3162300"/>
            <a:ext cx="2643187" cy="428625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3000" b="1" i="0" u="none">
                <a:solidFill>
                  <a:srgbClr val="1D4ED8"/>
                </a:solidFill>
                <a:latin typeface="Noto Sans SC" panose="020B0200000000000000" charset="-122"/>
              </a:rPr>
              <a:t>01</a:t>
            </a:r>
            <a:endParaRPr sz="3000" b="1" i="0" u="none">
              <a:solidFill>
                <a:srgbClr val="1D4ED8"/>
              </a:solidFill>
              <a:latin typeface="Noto Sans SC" panose="020B0200000000000000" charset="-122"/>
            </a:endParaRPr>
          </a:p>
        </p:txBody>
      </p:sp>
      <p:sp>
        <p:nvSpPr>
          <p:cNvPr id="9" name="TextBox 8"/>
          <p:cNvSpPr txBox="1"/>
          <p:nvPr>
            <p:custDataLst>
              <p:tags r:id="rId6"/>
            </p:custDataLst>
          </p:nvPr>
        </p:nvSpPr>
        <p:spPr>
          <a:xfrm>
            <a:off x="838200" y="3743325"/>
            <a:ext cx="2775346" cy="285750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1650" b="1" i="0" u="none">
                <a:solidFill>
                  <a:srgbClr val="0F172A"/>
                </a:solidFill>
                <a:latin typeface="Noto Sans SC" panose="020B0200000000000000" charset="-122"/>
              </a:rPr>
              <a:t>物料四大分区规划</a:t>
            </a:r>
            <a:endParaRPr sz="1650" b="1" i="0" u="none">
              <a:solidFill>
                <a:srgbClr val="0F172A"/>
              </a:solidFill>
              <a:latin typeface="Noto Sans SC" panose="020B0200000000000000" charset="-122"/>
            </a:endParaRPr>
          </a:p>
        </p:txBody>
      </p:sp>
      <p:sp>
        <p:nvSpPr>
          <p:cNvPr id="10" name="TextBox 9"/>
          <p:cNvSpPr txBox="1"/>
          <p:nvPr>
            <p:custDataLst>
              <p:tags r:id="rId7"/>
            </p:custDataLst>
          </p:nvPr>
        </p:nvSpPr>
        <p:spPr>
          <a:xfrm>
            <a:off x="838200" y="4143375"/>
            <a:ext cx="2209800" cy="4572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350" b="0" i="0" u="none">
                <a:solidFill>
                  <a:srgbClr val="475569"/>
                </a:solidFill>
                <a:latin typeface="Noto Sans SC" panose="020B0200000000000000" charset="-122"/>
              </a:rPr>
              <a:t>A/B/C/D 四区同类配套集中存放</a:t>
            </a:r>
            <a:endParaRPr sz="1350" b="0" i="0" u="none">
              <a:solidFill>
                <a:srgbClr val="475569"/>
              </a:solidFill>
              <a:latin typeface="Noto Sans SC" panose="020B0200000000000000" charset="-122"/>
            </a:endParaRPr>
          </a:p>
        </p:txBody>
      </p:sp>
      <p:sp>
        <p:nvSpPr>
          <p:cNvPr id="11" name="TextBox 10"/>
          <p:cNvSpPr txBox="1"/>
          <p:nvPr>
            <p:custDataLst>
              <p:tags r:id="rId8"/>
            </p:custDataLst>
          </p:nvPr>
        </p:nvSpPr>
        <p:spPr>
          <a:xfrm>
            <a:off x="3638550" y="3162300"/>
            <a:ext cx="2643187" cy="428625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3000" b="1" i="0" u="none">
                <a:solidFill>
                  <a:srgbClr val="EA580C"/>
                </a:solidFill>
                <a:latin typeface="Noto Sans SC" panose="020B0200000000000000" charset="-122"/>
              </a:rPr>
              <a:t>02</a:t>
            </a:r>
            <a:endParaRPr sz="3000" b="1" i="0" u="none">
              <a:solidFill>
                <a:srgbClr val="EA580C"/>
              </a:solidFill>
              <a:latin typeface="Noto Sans SC" panose="020B0200000000000000" charset="-122"/>
            </a:endParaRPr>
          </a:p>
        </p:txBody>
      </p:sp>
      <p:sp>
        <p:nvSpPr>
          <p:cNvPr id="12" name="TextBox 11"/>
          <p:cNvSpPr txBox="1"/>
          <p:nvPr>
            <p:custDataLst>
              <p:tags r:id="rId9"/>
            </p:custDataLst>
          </p:nvPr>
        </p:nvSpPr>
        <p:spPr>
          <a:xfrm>
            <a:off x="3638550" y="3743325"/>
            <a:ext cx="2775346" cy="285750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1650" b="1" i="0" u="none">
                <a:solidFill>
                  <a:srgbClr val="0F172A"/>
                </a:solidFill>
                <a:latin typeface="Noto Sans SC" panose="020B0200000000000000" charset="-122"/>
              </a:rPr>
              <a:t>门店空间差异适配</a:t>
            </a:r>
            <a:endParaRPr sz="1650" b="1" i="0" u="none">
              <a:solidFill>
                <a:srgbClr val="0F172A"/>
              </a:solidFill>
              <a:latin typeface="Noto Sans SC" panose="020B0200000000000000" charset="-122"/>
            </a:endParaRPr>
          </a:p>
        </p:txBody>
      </p:sp>
      <p:sp>
        <p:nvSpPr>
          <p:cNvPr id="13" name="TextBox 12"/>
          <p:cNvSpPr txBox="1"/>
          <p:nvPr>
            <p:custDataLst>
              <p:tags r:id="rId10"/>
            </p:custDataLst>
          </p:nvPr>
        </p:nvSpPr>
        <p:spPr>
          <a:xfrm>
            <a:off x="3638550" y="4143375"/>
            <a:ext cx="2209800" cy="4572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350" b="0" i="0" u="none">
                <a:solidFill>
                  <a:srgbClr val="475569"/>
                </a:solidFill>
                <a:latin typeface="Noto Sans SC" panose="020B0200000000000000" charset="-122"/>
              </a:rPr>
              <a:t>合架陈列实现多车型集约存放</a:t>
            </a:r>
            <a:endParaRPr sz="1350" b="0" i="0" u="none">
              <a:solidFill>
                <a:srgbClr val="475569"/>
              </a:solidFill>
              <a:latin typeface="Noto Sans SC" panose="020B0200000000000000" charset="-122"/>
            </a:endParaRPr>
          </a:p>
        </p:txBody>
      </p:sp>
      <p:sp>
        <p:nvSpPr>
          <p:cNvPr id="14" name="TextBox 13"/>
          <p:cNvSpPr txBox="1"/>
          <p:nvPr>
            <p:custDataLst>
              <p:tags r:id="rId11"/>
            </p:custDataLst>
          </p:nvPr>
        </p:nvSpPr>
        <p:spPr>
          <a:xfrm>
            <a:off x="6438900" y="3162300"/>
            <a:ext cx="2643187" cy="428625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3000" b="1" i="0" u="none">
                <a:solidFill>
                  <a:srgbClr val="1D4ED8"/>
                </a:solidFill>
                <a:latin typeface="Noto Sans SC" panose="020B0200000000000000" charset="-122"/>
              </a:rPr>
              <a:t>03</a:t>
            </a:r>
            <a:endParaRPr sz="3000" b="1" i="0" u="none">
              <a:solidFill>
                <a:srgbClr val="1D4ED8"/>
              </a:solidFill>
              <a:latin typeface="Noto Sans SC" panose="020B0200000000000000" charset="-122"/>
            </a:endParaRPr>
          </a:p>
        </p:txBody>
      </p:sp>
      <p:sp>
        <p:nvSpPr>
          <p:cNvPr id="15" name="TextBox 14"/>
          <p:cNvSpPr txBox="1"/>
          <p:nvPr>
            <p:custDataLst>
              <p:tags r:id="rId12"/>
            </p:custDataLst>
          </p:nvPr>
        </p:nvSpPr>
        <p:spPr>
          <a:xfrm>
            <a:off x="6438900" y="3743325"/>
            <a:ext cx="2775346" cy="285750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1650" b="1" i="0" u="none">
                <a:solidFill>
                  <a:srgbClr val="0F172A"/>
                </a:solidFill>
                <a:latin typeface="Noto Sans SC" panose="020B0200000000000000" charset="-122"/>
              </a:rPr>
              <a:t>容器与目视化标识</a:t>
            </a:r>
            <a:endParaRPr sz="1650" b="1" i="0" u="none">
              <a:solidFill>
                <a:srgbClr val="0F172A"/>
              </a:solidFill>
              <a:latin typeface="Noto Sans SC" panose="020B0200000000000000" charset="-122"/>
            </a:endParaRPr>
          </a:p>
        </p:txBody>
      </p:sp>
      <p:sp>
        <p:nvSpPr>
          <p:cNvPr id="16" name="TextBox 15"/>
          <p:cNvSpPr txBox="1"/>
          <p:nvPr>
            <p:custDataLst>
              <p:tags r:id="rId13"/>
            </p:custDataLst>
          </p:nvPr>
        </p:nvSpPr>
        <p:spPr>
          <a:xfrm>
            <a:off x="6438900" y="4143375"/>
            <a:ext cx="2209800" cy="207645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350" b="0" i="0" u="none">
                <a:solidFill>
                  <a:srgbClr val="475569"/>
                </a:solidFill>
                <a:latin typeface="Noto Sans SC" panose="020B0200000000000000" charset="-122"/>
              </a:rPr>
              <a:t>中西双语标签双重定位</a:t>
            </a:r>
            <a:endParaRPr sz="1350" b="0" i="0" u="none">
              <a:solidFill>
                <a:srgbClr val="475569"/>
              </a:solidFill>
              <a:latin typeface="Noto Sans SC" panose="020B0200000000000000" charset="-122"/>
            </a:endParaRPr>
          </a:p>
        </p:txBody>
      </p:sp>
      <p:sp>
        <p:nvSpPr>
          <p:cNvPr id="17" name="TextBox 16"/>
          <p:cNvSpPr txBox="1"/>
          <p:nvPr>
            <p:custDataLst>
              <p:tags r:id="rId14"/>
            </p:custDataLst>
          </p:nvPr>
        </p:nvSpPr>
        <p:spPr>
          <a:xfrm>
            <a:off x="9239250" y="3162300"/>
            <a:ext cx="2643187" cy="428625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3000" b="1" i="0" u="none">
                <a:solidFill>
                  <a:srgbClr val="EA580C"/>
                </a:solidFill>
                <a:latin typeface="Noto Sans SC" panose="020B0200000000000000" charset="-122"/>
              </a:rPr>
              <a:t>04</a:t>
            </a:r>
            <a:endParaRPr sz="3000" b="1" i="0" u="none">
              <a:solidFill>
                <a:srgbClr val="EA580C"/>
              </a:solidFill>
              <a:latin typeface="Noto Sans SC" panose="020B0200000000000000" charset="-122"/>
            </a:endParaRPr>
          </a:p>
        </p:txBody>
      </p:sp>
      <p:sp>
        <p:nvSpPr>
          <p:cNvPr id="18" name="TextBox 17"/>
          <p:cNvSpPr txBox="1"/>
          <p:nvPr>
            <p:custDataLst>
              <p:tags r:id="rId15"/>
            </p:custDataLst>
          </p:nvPr>
        </p:nvSpPr>
        <p:spPr>
          <a:xfrm>
            <a:off x="9239250" y="3743325"/>
            <a:ext cx="2775346" cy="285750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1650" b="1" i="0" u="none">
                <a:solidFill>
                  <a:srgbClr val="0F172A"/>
                </a:solidFill>
                <a:latin typeface="Noto Sans SC" panose="020B0200000000000000" charset="-122"/>
              </a:rPr>
              <a:t>出入库与账物管控</a:t>
            </a:r>
            <a:endParaRPr sz="1650" b="1" i="0" u="none">
              <a:solidFill>
                <a:srgbClr val="0F172A"/>
              </a:solidFill>
              <a:latin typeface="Noto Sans SC" panose="020B0200000000000000" charset="-122"/>
            </a:endParaRPr>
          </a:p>
        </p:txBody>
      </p:sp>
      <p:sp>
        <p:nvSpPr>
          <p:cNvPr id="19" name="TextBox 18"/>
          <p:cNvSpPr txBox="1"/>
          <p:nvPr>
            <p:custDataLst>
              <p:tags r:id="rId16"/>
            </p:custDataLst>
          </p:nvPr>
        </p:nvSpPr>
        <p:spPr>
          <a:xfrm>
            <a:off x="9239250" y="4143375"/>
            <a:ext cx="2209800" cy="4572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350" b="0" i="0" u="none">
                <a:solidFill>
                  <a:srgbClr val="475569"/>
                </a:solidFill>
                <a:latin typeface="Noto Sans SC" panose="020B0200000000000000" charset="-122"/>
              </a:rPr>
              <a:t>收货三核对与物料增减卡动态盘点</a:t>
            </a:r>
            <a:endParaRPr sz="1350" b="0" i="0" u="none">
              <a:solidFill>
                <a:srgbClr val="475569"/>
              </a:solidFill>
              <a:latin typeface="Noto Sans SC" panose="020B0200000000000000" charset="-122"/>
            </a:endParaRP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graphicFrame>
        <p:nvGraphicFramePr>
          <p:cNvPr id="2" name="Table 1"/>
          <p:cNvGraphicFramePr>
            <a:graphicFrameLocks noGrp="1"/>
          </p:cNvGraphicFramePr>
          <p:nvPr/>
        </p:nvGraphicFramePr>
        <p:xfrm>
          <a:off x="609600" y="1881187"/>
          <a:ext cx="10972798" cy="3981450"/>
        </p:xfrm>
        <a:graphic>
          <a:graphicData uri="http://schemas.openxmlformats.org/drawingml/2006/table">
            <a:tbl>
              <a:tblPr/>
              <a:tblGrid>
                <a:gridCol w="2194470"/>
                <a:gridCol w="4937670"/>
                <a:gridCol w="3840658"/>
              </a:tblGrid>
              <a:tr h="796290">
                <a:tc>
                  <a:txBody>
                    <a:bodyPr/>
                    <a:lstStyle/>
                    <a:p>
                      <a:pPr algn="l"/>
                      <a:r>
                        <a:rPr sz="1425" b="1" i="0" u="none">
                          <a:solidFill>
                            <a:srgbClr val="FFFFFF"/>
                          </a:solidFill>
                          <a:latin typeface="Noto Sans SC" panose="020B0200000000000000" charset="-122"/>
                        </a:rPr>
                        <a:t>功能分区</a:t>
                      </a:r>
                      <a:endParaRPr sz="1425" b="1" i="0" u="none">
                        <a:solidFill>
                          <a:srgbClr val="FFFFFF"/>
                        </a:solidFill>
                        <a:latin typeface="Noto Sans SC" panose="020B0200000000000000" charset="-122"/>
                      </a:endParaRPr>
                    </a:p>
                  </a:txBody>
                  <a:tcPr marL="63500" marR="63500" marT="25400" marB="254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0F172A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425" b="1" i="0" u="none">
                          <a:solidFill>
                            <a:srgbClr val="FFFFFF"/>
                          </a:solidFill>
                          <a:latin typeface="Noto Sans SC" panose="020B0200000000000000" charset="-122"/>
                        </a:rPr>
                        <a:t>核心物料明细</a:t>
                      </a:r>
                      <a:endParaRPr sz="1425" b="1" i="0" u="none">
                        <a:solidFill>
                          <a:srgbClr val="FFFFFF"/>
                        </a:solidFill>
                        <a:latin typeface="Noto Sans SC" panose="020B0200000000000000" charset="-122"/>
                      </a:endParaRPr>
                    </a:p>
                  </a:txBody>
                  <a:tcPr marL="63500" marR="63500" marT="25400" marB="254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0F172A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425" b="1" i="0" u="none">
                          <a:solidFill>
                            <a:srgbClr val="FFFFFF"/>
                          </a:solidFill>
                          <a:latin typeface="Noto Sans SC" panose="020B0200000000000000" charset="-122"/>
                        </a:rPr>
                        <a:t>现场陈列核心逻辑</a:t>
                      </a:r>
                      <a:endParaRPr sz="1425" b="1" i="0" u="none">
                        <a:solidFill>
                          <a:srgbClr val="FFFFFF"/>
                        </a:solidFill>
                        <a:latin typeface="Noto Sans SC" panose="020B0200000000000000" charset="-122"/>
                      </a:endParaRPr>
                    </a:p>
                  </a:txBody>
                  <a:tcPr marL="63500" marR="63500" marT="25400" marB="254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0F172A"/>
                    </a:solidFill>
                  </a:tcPr>
                </a:tc>
              </a:tr>
              <a:tr h="796290">
                <a:tc>
                  <a:txBody>
                    <a:bodyPr/>
                    <a:lstStyle/>
                    <a:p>
                      <a:pPr algn="l"/>
                      <a:r>
                        <a:rPr sz="1425" b="1" i="0" u="none">
                          <a:solidFill>
                            <a:srgbClr val="1D4ED8"/>
                          </a:solidFill>
                          <a:latin typeface="Noto Sans SC" panose="020B0200000000000000" charset="-122"/>
                        </a:rPr>
                        <a:t>A区：电器件</a:t>
                      </a:r>
                      <a:endParaRPr sz="1425" b="1" i="0" u="none">
                        <a:solidFill>
                          <a:srgbClr val="1D4ED8"/>
                        </a:solidFill>
                        <a:latin typeface="Noto Sans SC" panose="020B0200000000000000" charset="-122"/>
                      </a:endParaRPr>
                    </a:p>
                  </a:txBody>
                  <a:tcPr marL="63500" marR="63500" marT="25400" marB="254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350" b="0" i="0" u="none">
                          <a:solidFill>
                            <a:srgbClr val="1E293B"/>
                          </a:solidFill>
                          <a:latin typeface="Noto Sans SC" panose="020B0200000000000000" charset="-122"/>
                        </a:rPr>
                        <a:t>控制器、仪表、充电器、转换器、喇叭、闪光器、空开、电源锁、转把、刹把、组合开关、霍尔、整车线束</a:t>
                      </a:r>
                      <a:endParaRPr sz="1350" b="0" i="0" u="none">
                        <a:solidFill>
                          <a:srgbClr val="1E293B"/>
                        </a:solidFill>
                        <a:latin typeface="Noto Sans SC" panose="020B0200000000000000" charset="-122"/>
                      </a:endParaRPr>
                    </a:p>
                  </a:txBody>
                  <a:tcPr marL="63500" marR="63500" marT="25400" marB="254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350" b="1" i="0" u="none">
                          <a:solidFill>
                            <a:srgbClr val="0F172A"/>
                          </a:solidFill>
                          <a:latin typeface="Noto Sans SC" panose="020B0200000000000000" charset="-122"/>
                        </a:rPr>
                        <a:t>电控集中、左右配套就近、线束单架集齐</a:t>
                      </a:r>
                      <a:endParaRPr sz="1350" b="1" i="0" u="none">
                        <a:solidFill>
                          <a:srgbClr val="0F172A"/>
                        </a:solidFill>
                        <a:latin typeface="Noto Sans SC" panose="020B0200000000000000" charset="-122"/>
                      </a:endParaRPr>
                    </a:p>
                  </a:txBody>
                  <a:tcPr marL="63500" marR="63500" marT="25400" marB="254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8FAFC"/>
                    </a:solidFill>
                  </a:tcPr>
                </a:tc>
              </a:tr>
              <a:tr h="796290">
                <a:tc>
                  <a:txBody>
                    <a:bodyPr/>
                    <a:lstStyle/>
                    <a:p>
                      <a:pPr algn="l"/>
                      <a:r>
                        <a:rPr sz="1425" b="1" i="0" u="none">
                          <a:solidFill>
                            <a:srgbClr val="EA580C"/>
                          </a:solidFill>
                          <a:latin typeface="Noto Sans SC" panose="020B0200000000000000" charset="-122"/>
                        </a:rPr>
                        <a:t>B区：通用件</a:t>
                      </a:r>
                      <a:endParaRPr sz="1425" b="1" i="0" u="none">
                        <a:solidFill>
                          <a:srgbClr val="EA580C"/>
                        </a:solidFill>
                        <a:latin typeface="Noto Sans SC" panose="020B0200000000000000" charset="-122"/>
                      </a:endParaRPr>
                    </a:p>
                  </a:txBody>
                  <a:tcPr marL="63500" marR="63500" marT="25400" marB="254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350" b="0" i="0" u="none">
                          <a:solidFill>
                            <a:srgbClr val="1E293B"/>
                          </a:solidFill>
                          <a:latin typeface="Noto Sans SC" panose="020B0200000000000000" charset="-122"/>
                        </a:rPr>
                        <a:t>外胎、内胎、气嘴、轴承、油封、链条、飞轮、刹车线、弹簧、刹车片、轮毂、碟刹、油刹、鼓刹、中轴碗件</a:t>
                      </a:r>
                      <a:endParaRPr sz="1350" b="0" i="0" u="none">
                        <a:solidFill>
                          <a:srgbClr val="1E293B"/>
                        </a:solidFill>
                        <a:latin typeface="Noto Sans SC" panose="020B0200000000000000" charset="-122"/>
                      </a:endParaRPr>
                    </a:p>
                  </a:txBody>
                  <a:tcPr marL="63500" marR="63500" marT="25400" marB="254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350" b="1" i="0" u="none">
                          <a:solidFill>
                            <a:srgbClr val="0F172A"/>
                          </a:solidFill>
                          <a:latin typeface="Noto Sans SC" panose="020B0200000000000000" charset="-122"/>
                        </a:rPr>
                        <a:t>转向/驱动/刹车按系统归类、零碎五金小件周转筐专架集中</a:t>
                      </a:r>
                      <a:endParaRPr sz="1350" b="1" i="0" u="none">
                        <a:solidFill>
                          <a:srgbClr val="0F172A"/>
                        </a:solidFill>
                        <a:latin typeface="Noto Sans SC" panose="020B0200000000000000" charset="-122"/>
                      </a:endParaRPr>
                    </a:p>
                  </a:txBody>
                  <a:tcPr marL="63500" marR="63500" marT="25400" marB="254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</a:tr>
              <a:tr h="796290">
                <a:tc>
                  <a:txBody>
                    <a:bodyPr/>
                    <a:lstStyle/>
                    <a:p>
                      <a:pPr algn="l"/>
                      <a:r>
                        <a:rPr sz="1425" b="1" i="0" u="none">
                          <a:solidFill>
                            <a:srgbClr val="1D4ED8"/>
                          </a:solidFill>
                          <a:latin typeface="Noto Sans SC" panose="020B0200000000000000" charset="-122"/>
                        </a:rPr>
                        <a:t>C区：外观件</a:t>
                      </a:r>
                      <a:endParaRPr sz="1425" b="1" i="0" u="none">
                        <a:solidFill>
                          <a:srgbClr val="1D4ED8"/>
                        </a:solidFill>
                        <a:latin typeface="Noto Sans SC" panose="020B0200000000000000" charset="-122"/>
                      </a:endParaRPr>
                    </a:p>
                  </a:txBody>
                  <a:tcPr marL="63500" marR="63500" marT="25400" marB="254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350" b="0" i="0" u="none">
                          <a:solidFill>
                            <a:srgbClr val="1E293B"/>
                          </a:solidFill>
                          <a:latin typeface="Noto Sans SC" panose="020B0200000000000000" charset="-122"/>
                        </a:rPr>
                        <a:t>烤漆件、PP塑件、大灯、尾灯、转向灯、后视镜、仪表挡风、靠背、座垫、宝宝座、脚刹踏板</a:t>
                      </a:r>
                      <a:endParaRPr sz="1350" b="0" i="0" u="none">
                        <a:solidFill>
                          <a:srgbClr val="1E293B"/>
                        </a:solidFill>
                        <a:latin typeface="Noto Sans SC" panose="020B0200000000000000" charset="-122"/>
                      </a:endParaRPr>
                    </a:p>
                  </a:txBody>
                  <a:tcPr marL="63500" marR="63500" marT="25400" marB="254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350" b="1" i="0" u="none">
                          <a:solidFill>
                            <a:srgbClr val="0F172A"/>
                          </a:solidFill>
                          <a:latin typeface="Noto Sans SC" panose="020B0200000000000000" charset="-122"/>
                        </a:rPr>
                        <a:t>大体积烤漆与PP件按区存放、小外观件单架集中、座垫统一专放</a:t>
                      </a:r>
                      <a:endParaRPr sz="1350" b="1" i="0" u="none">
                        <a:solidFill>
                          <a:srgbClr val="0F172A"/>
                        </a:solidFill>
                        <a:latin typeface="Noto Sans SC" panose="020B0200000000000000" charset="-122"/>
                      </a:endParaRPr>
                    </a:p>
                  </a:txBody>
                  <a:tcPr marL="63500" marR="63500" marT="25400" marB="254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8FAFC"/>
                    </a:solidFill>
                  </a:tcPr>
                </a:tc>
              </a:tr>
              <a:tr h="796290">
                <a:tc>
                  <a:txBody>
                    <a:bodyPr/>
                    <a:lstStyle/>
                    <a:p>
                      <a:pPr algn="l"/>
                      <a:r>
                        <a:rPr sz="1425" b="1" i="0" u="none">
                          <a:solidFill>
                            <a:srgbClr val="EA580C"/>
                          </a:solidFill>
                          <a:latin typeface="Noto Sans SC" panose="020B0200000000000000" charset="-122"/>
                        </a:rPr>
                        <a:t>D区：结构与易损件</a:t>
                      </a:r>
                      <a:endParaRPr sz="1425" b="1" i="0" u="none">
                        <a:solidFill>
                          <a:srgbClr val="EA580C"/>
                        </a:solidFill>
                        <a:latin typeface="Noto Sans SC" panose="020B0200000000000000" charset="-122"/>
                      </a:endParaRPr>
                    </a:p>
                  </a:txBody>
                  <a:tcPr marL="63500" marR="63500" marT="25400" marB="254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350" b="0" i="0" u="none">
                          <a:solidFill>
                            <a:srgbClr val="1E293B"/>
                          </a:solidFill>
                          <a:latin typeface="Noto Sans SC" panose="020B0200000000000000" charset="-122"/>
                        </a:rPr>
                        <a:t>车架、前叉、后平叉、方向柱、后减震、把立、车把、半轴、差速器、制动臂、摇臂、双支架、侧支架</a:t>
                      </a:r>
                      <a:endParaRPr sz="1350" b="0" i="0" u="none">
                        <a:solidFill>
                          <a:srgbClr val="1E293B"/>
                        </a:solidFill>
                        <a:latin typeface="Noto Sans SC" panose="020B0200000000000000" charset="-122"/>
                      </a:endParaRPr>
                    </a:p>
                  </a:txBody>
                  <a:tcPr marL="63500" marR="63500" marT="25400" marB="254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350" b="1" i="0" u="none">
                          <a:solidFill>
                            <a:srgbClr val="0F172A"/>
                          </a:solidFill>
                          <a:latin typeface="Noto Sans SC" panose="020B0200000000000000" charset="-122"/>
                        </a:rPr>
                        <a:t>长条管件免筐直接上架成排陈列</a:t>
                      </a:r>
                      <a:endParaRPr sz="1350" b="1" i="0" u="none">
                        <a:solidFill>
                          <a:srgbClr val="0F172A"/>
                        </a:solidFill>
                        <a:latin typeface="Noto Sans SC" panose="020B0200000000000000" charset="-122"/>
                      </a:endParaRPr>
                    </a:p>
                  </a:txBody>
                  <a:tcPr marL="63500" marR="63500" marT="25400" marB="254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3" name="TextBox 2"/>
          <p:cNvSpPr txBox="1"/>
          <p:nvPr/>
        </p:nvSpPr>
        <p:spPr>
          <a:xfrm>
            <a:off x="609600" y="457200"/>
            <a:ext cx="11582400" cy="161925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1125" b="1" i="0" u="none">
                <a:solidFill>
                  <a:srgbClr val="1D4ED8"/>
                </a:solidFill>
                <a:latin typeface="Noto Sans SC" panose="020B0200000000000000" charset="-122"/>
              </a:rPr>
              <a:t>PART 01 · ZONING STANDARD</a:t>
            </a:r>
            <a:endParaRPr sz="1125" b="1" i="0" u="none">
              <a:solidFill>
                <a:srgbClr val="1D4ED8"/>
              </a:solidFill>
              <a:latin typeface="Noto Sans SC" panose="020B0200000000000000" charset="-122"/>
            </a:endParaRPr>
          </a:p>
        </p:txBody>
      </p:sp>
      <p:sp>
        <p:nvSpPr>
          <p:cNvPr id="4" name="TextBox 3"/>
          <p:cNvSpPr txBox="1"/>
          <p:nvPr/>
        </p:nvSpPr>
        <p:spPr>
          <a:xfrm>
            <a:off x="609600" y="695325"/>
            <a:ext cx="11582400" cy="419100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2400" b="1" i="0" u="none">
                <a:solidFill>
                  <a:srgbClr val="0F172A"/>
                </a:solidFill>
                <a:latin typeface="Noto Sans SC" panose="020B0200000000000000" charset="-122"/>
              </a:rPr>
              <a:t>一、物料四大分区规划标准总览</a:t>
            </a:r>
            <a:endParaRPr sz="2400" b="1" i="0" u="none">
              <a:solidFill>
                <a:srgbClr val="0F172A"/>
              </a:solidFill>
              <a:latin typeface="Noto Sans SC" panose="020B0200000000000000" charset="-122"/>
            </a:endParaRP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/>
      <p:pic>
        <p:nvPicPr>
          <p:cNvPr id="2" name="Picture 1" descr="image.png"/>
          <p:cNvPicPr>
            <a:picLocks noChangeAspect="1"/>
          </p:cNvPicPr>
          <p:nvPr>
            <p:custDataLst>
              <p:tags r:id="rId1"/>
            </p:custDataLst>
          </p:nvPr>
        </p:nvPicPr>
        <p:blipFill>
          <a:blip r:embed="rId2"/>
          <a:stretch>
            <a:fillRect/>
          </a:stretch>
        </p:blipFill>
        <p:spPr>
          <a:xfrm>
            <a:off x="5916959" y="1585912"/>
            <a:ext cx="2756594" cy="4314825"/>
          </a:xfrm>
          <a:prstGeom prst="rect">
            <a:avLst/>
          </a:prstGeom>
        </p:spPr>
      </p:pic>
      <p:pic>
        <p:nvPicPr>
          <p:cNvPr id="3" name="Picture 2" descr="image.png"/>
          <p:cNvPicPr>
            <a:picLocks noChangeAspect="1"/>
          </p:cNvPicPr>
          <p:nvPr>
            <p:custDataLst>
              <p:tags r:id="rId3"/>
            </p:custDataLst>
          </p:nvPr>
        </p:nvPicPr>
        <p:blipFill>
          <a:blip r:embed="rId4"/>
          <a:stretch>
            <a:fillRect/>
          </a:stretch>
        </p:blipFill>
        <p:spPr>
          <a:xfrm>
            <a:off x="8825954" y="1585912"/>
            <a:ext cx="2756594" cy="4314825"/>
          </a:xfrm>
          <a:prstGeom prst="rect">
            <a:avLst/>
          </a:prstGeom>
        </p:spPr>
      </p:pic>
      <p:pic>
        <p:nvPicPr>
          <p:cNvPr id="4" name="Picture 3" descr="image.png"/>
          <p:cNvPicPr>
            <a:picLocks noChangeAspect="1"/>
          </p:cNvPicPr>
          <p:nvPr>
            <p:custDataLst>
              <p:tags r:id="rId5"/>
            </p:custDataLst>
          </p:nvPr>
        </p:nvPicPr>
        <p:blipFill>
          <a:blip r:embed="rId6"/>
          <a:stretch>
            <a:fillRect/>
          </a:stretch>
        </p:blipFill>
        <p:spPr>
          <a:xfrm>
            <a:off x="5916959" y="1585912"/>
            <a:ext cx="2756594" cy="4314825"/>
          </a:xfrm>
          <a:prstGeom prst="rect">
            <a:avLst/>
          </a:prstGeom>
        </p:spPr>
      </p:pic>
      <p:pic>
        <p:nvPicPr>
          <p:cNvPr id="5" name="Picture 4" descr="D:/桌面/895ba36dd1bd8ae468869d3f236dcdba.jpg895ba36dd1bd8ae468869d3f236dcdba"/>
          <p:cNvPicPr>
            <a:picLocks noChangeAspect="1"/>
          </p:cNvPicPr>
          <p:nvPr>
            <p:custDataLst>
              <p:tags r:id="rId7"/>
            </p:custDataLst>
          </p:nvPr>
        </p:nvPicPr>
        <p:blipFill>
          <a:blip r:embed="rId8"/>
          <a:srcRect t="5930" b="5982"/>
          <a:stretch>
            <a:fillRect/>
          </a:stretch>
        </p:blipFill>
        <p:spPr>
          <a:xfrm>
            <a:off x="8825954" y="1585912"/>
            <a:ext cx="2756594" cy="4314825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609600" y="457200"/>
            <a:ext cx="11582400" cy="161925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1125" b="1" i="0" u="none">
                <a:solidFill>
                  <a:srgbClr val="1D4ED8"/>
                </a:solidFill>
                <a:latin typeface="Noto Sans SC" panose="020B0200000000000000" charset="-122"/>
              </a:rPr>
              <a:t>ZONE A · ELECTRICAL COMPONENTS</a:t>
            </a:r>
            <a:endParaRPr sz="1125" b="1" i="0" u="none">
              <a:solidFill>
                <a:srgbClr val="1D4ED8"/>
              </a:solidFill>
              <a:latin typeface="Noto Sans SC" panose="020B0200000000000000" charset="-122"/>
            </a:endParaRPr>
          </a:p>
        </p:txBody>
      </p:sp>
      <p:sp>
        <p:nvSpPr>
          <p:cNvPr id="7" name="TextBox 6"/>
          <p:cNvSpPr txBox="1"/>
          <p:nvPr/>
        </p:nvSpPr>
        <p:spPr>
          <a:xfrm>
            <a:off x="609600" y="695325"/>
            <a:ext cx="11582400" cy="419100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2400" b="1" i="0" u="none">
                <a:solidFill>
                  <a:srgbClr val="0F172A"/>
                </a:solidFill>
                <a:latin typeface="Noto Sans SC" panose="020B0200000000000000" charset="-122"/>
              </a:rPr>
              <a:t>A区电器件：电控集中与左右配套就近原则</a:t>
            </a:r>
            <a:endParaRPr sz="2400" b="1" i="0" u="none">
              <a:solidFill>
                <a:srgbClr val="0F172A"/>
              </a:solidFill>
              <a:latin typeface="Noto Sans SC" panose="020B0200000000000000" charset="-122"/>
            </a:endParaRPr>
          </a:p>
        </p:txBody>
      </p:sp>
      <p:sp>
        <p:nvSpPr>
          <p:cNvPr id="8" name="TextBox 7"/>
          <p:cNvSpPr txBox="1"/>
          <p:nvPr/>
        </p:nvSpPr>
        <p:spPr>
          <a:xfrm>
            <a:off x="609600" y="2462212"/>
            <a:ext cx="5021609" cy="5334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2100"/>
              </a:lnSpc>
            </a:pPr>
            <a:r>
              <a:rPr sz="1500" b="1" i="0" u="none">
                <a:solidFill>
                  <a:srgbClr val="1D4ED8"/>
                </a:solidFill>
                <a:latin typeface="Noto Sans SC" panose="020B0200000000000000" charset="-122"/>
              </a:rPr>
              <a:t>1. 前部电控集中：</a:t>
            </a:r>
            <a:r>
              <a:rPr sz="1500" b="0" i="0" u="none">
                <a:solidFill>
                  <a:srgbClr val="1E293B"/>
                </a:solidFill>
                <a:latin typeface="Noto Sans SC" panose="020B0200000000000000" charset="-122"/>
              </a:rPr>
              <a:t>转把、刹把、功能开关、仪表、控制器相邻存放。</a:t>
            </a:r>
            <a:endParaRPr sz="1500" b="0" i="0" u="none">
              <a:solidFill>
                <a:srgbClr val="1E293B"/>
              </a:solidFill>
              <a:latin typeface="Noto Sans SC" panose="020B0200000000000000" charset="-122"/>
            </a:endParaRPr>
          </a:p>
        </p:txBody>
      </p:sp>
      <p:sp>
        <p:nvSpPr>
          <p:cNvPr id="9" name="TextBox 8"/>
          <p:cNvSpPr txBox="1"/>
          <p:nvPr/>
        </p:nvSpPr>
        <p:spPr>
          <a:xfrm>
            <a:off x="609600" y="3224212"/>
            <a:ext cx="5021609" cy="5334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2100"/>
              </a:lnSpc>
            </a:pPr>
            <a:r>
              <a:rPr sz="1500" b="1" i="0" u="none">
                <a:solidFill>
                  <a:srgbClr val="EA580C"/>
                </a:solidFill>
                <a:latin typeface="Noto Sans SC" panose="020B0200000000000000" charset="-122"/>
              </a:rPr>
              <a:t>2. 左右配套就近：</a:t>
            </a:r>
            <a:r>
              <a:rPr sz="1500" b="0" i="0" u="none">
                <a:solidFill>
                  <a:srgbClr val="1E293B"/>
                </a:solidFill>
                <a:latin typeface="Noto Sans SC" panose="020B0200000000000000" charset="-122"/>
              </a:rPr>
              <a:t>转把、功能开关与刹把左右紧挨摆放，一次配齐。</a:t>
            </a:r>
            <a:endParaRPr sz="1500" b="0" i="0" u="none">
              <a:solidFill>
                <a:srgbClr val="1E293B"/>
              </a:solidFill>
              <a:latin typeface="Noto Sans SC" panose="020B0200000000000000" charset="-122"/>
            </a:endParaRPr>
          </a:p>
        </p:txBody>
      </p:sp>
      <p:sp>
        <p:nvSpPr>
          <p:cNvPr id="10" name="TextBox 9"/>
          <p:cNvSpPr txBox="1"/>
          <p:nvPr/>
        </p:nvSpPr>
        <p:spPr>
          <a:xfrm>
            <a:off x="609600" y="3986212"/>
            <a:ext cx="5021609" cy="5334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2100"/>
              </a:lnSpc>
            </a:pPr>
            <a:r>
              <a:rPr sz="1500" b="1" i="0" u="none">
                <a:solidFill>
                  <a:srgbClr val="1D4ED8"/>
                </a:solidFill>
                <a:latin typeface="Noto Sans SC" panose="020B0200000000000000" charset="-122"/>
              </a:rPr>
              <a:t>3. 全车线束专架：</a:t>
            </a:r>
            <a:r>
              <a:rPr sz="1500" b="0" i="0" u="none">
                <a:solidFill>
                  <a:srgbClr val="1E293B"/>
                </a:solidFill>
                <a:latin typeface="Noto Sans SC" panose="020B0200000000000000" charset="-122"/>
              </a:rPr>
              <a:t>主线束、电池线、电源线与喇叭线单架集中陈列。</a:t>
            </a:r>
            <a:endParaRPr sz="1500" b="0" i="0" u="none">
              <a:solidFill>
                <a:srgbClr val="1E293B"/>
              </a:solidFill>
              <a:latin typeface="Noto Sans SC" panose="020B0200000000000000" charset="-122"/>
            </a:endParaRPr>
          </a:p>
        </p:txBody>
      </p:sp>
      <p:sp>
        <p:nvSpPr>
          <p:cNvPr id="11" name="TextBox 10"/>
          <p:cNvSpPr txBox="1"/>
          <p:nvPr/>
        </p:nvSpPr>
        <p:spPr>
          <a:xfrm>
            <a:off x="609600" y="4748212"/>
            <a:ext cx="5021609" cy="5334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2100"/>
              </a:lnSpc>
            </a:pPr>
            <a:r>
              <a:rPr sz="1500" b="1" i="0" u="none">
                <a:solidFill>
                  <a:srgbClr val="EA580C"/>
                </a:solidFill>
                <a:latin typeface="Noto Sans SC" panose="020B0200000000000000" charset="-122"/>
              </a:rPr>
              <a:t>4. 充电器专区：</a:t>
            </a:r>
            <a:r>
              <a:rPr sz="1500" b="0" i="0" u="none">
                <a:solidFill>
                  <a:srgbClr val="1E293B"/>
                </a:solidFill>
                <a:latin typeface="Noto Sans SC" panose="020B0200000000000000" charset="-122"/>
              </a:rPr>
              <a:t>各车型充电器与后视镜集中存放在同一货架区域。</a:t>
            </a:r>
            <a:endParaRPr sz="1500" b="0" i="0" u="none">
              <a:solidFill>
                <a:srgbClr val="1E293B"/>
              </a:solidFill>
              <a:latin typeface="Noto Sans SC" panose="020B0200000000000000" charset="-122"/>
            </a:endParaRPr>
          </a:p>
        </p:txBody>
      </p:sp>
      <p:sp>
        <p:nvSpPr>
          <p:cNvPr id="12" name="TextBox 11"/>
          <p:cNvSpPr txBox="1"/>
          <p:nvPr>
            <p:custDataLst>
              <p:tags r:id="rId9"/>
            </p:custDataLst>
          </p:nvPr>
        </p:nvSpPr>
        <p:spPr>
          <a:xfrm>
            <a:off x="6792972" y="5976937"/>
            <a:ext cx="1004570" cy="173355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ctr"/>
            <a:r>
              <a:rPr sz="1125" b="0" i="0" u="none">
                <a:solidFill>
                  <a:srgbClr val="475569"/>
                </a:solidFill>
                <a:latin typeface="Noto Sans SC" panose="020B0200000000000000" charset="-122"/>
              </a:rPr>
              <a:t>电控集中拣选区</a:t>
            </a:r>
            <a:endParaRPr sz="1125" b="0" i="0" u="none">
              <a:solidFill>
                <a:srgbClr val="475569"/>
              </a:solidFill>
              <a:latin typeface="Noto Sans SC" panose="020B0200000000000000" charset="-122"/>
            </a:endParaRPr>
          </a:p>
        </p:txBody>
      </p:sp>
      <p:sp>
        <p:nvSpPr>
          <p:cNvPr id="13" name="TextBox 12"/>
          <p:cNvSpPr txBox="1"/>
          <p:nvPr>
            <p:custDataLst>
              <p:tags r:id="rId10"/>
            </p:custDataLst>
          </p:nvPr>
        </p:nvSpPr>
        <p:spPr>
          <a:xfrm>
            <a:off x="8481379" y="5976937"/>
            <a:ext cx="3445743" cy="180975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ctr"/>
            <a:r>
              <a:rPr sz="1125" b="0" i="0" u="none">
                <a:solidFill>
                  <a:srgbClr val="475569"/>
                </a:solidFill>
                <a:latin typeface="Noto Sans SC" panose="020B0200000000000000" charset="-122"/>
              </a:rPr>
              <a:t>转把与刹把左右配套紧挨陈列</a:t>
            </a:r>
            <a:endParaRPr sz="1125" b="0" i="0" u="none">
              <a:solidFill>
                <a:srgbClr val="475569"/>
              </a:solidFill>
              <a:latin typeface="Noto Sans SC" panose="020B0200000000000000" charset="-122"/>
            </a:endParaRP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609600" y="1947862"/>
            <a:ext cx="5295900" cy="3848100"/>
          </a:xfrm>
          <a:prstGeom prst="roundRect">
            <a:avLst>
              <a:gd name="adj" fmla="val 2970"/>
            </a:avLst>
          </a:prstGeom>
          <a:solidFill>
            <a:srgbClr val="F8FA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6286500" y="1833562"/>
            <a:ext cx="5295900" cy="4076700"/>
          </a:xfrm>
          <a:prstGeom prst="roundRect">
            <a:avLst>
              <a:gd name="adj" fmla="val 2803"/>
            </a:avLst>
          </a:prstGeom>
          <a:solidFill>
            <a:srgbClr val="F8FA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4" name="Picture 3" descr="image.png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76300" y="2690812"/>
            <a:ext cx="4762500" cy="2095500"/>
          </a:xfrm>
          <a:prstGeom prst="rect">
            <a:avLst/>
          </a:prstGeom>
        </p:spPr>
      </p:pic>
      <p:pic>
        <p:nvPicPr>
          <p:cNvPr id="5" name="Picture 4" descr="image.png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553200" y="2576512"/>
            <a:ext cx="4762500" cy="2095500"/>
          </a:xfrm>
          <a:prstGeom prst="rect">
            <a:avLst/>
          </a:prstGeom>
        </p:spPr>
      </p:pic>
      <p:pic>
        <p:nvPicPr>
          <p:cNvPr id="6" name="Picture 5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76300" y="2690812"/>
            <a:ext cx="4762500" cy="2095500"/>
          </a:xfrm>
          <a:prstGeom prst="rect">
            <a:avLst/>
          </a:prstGeom>
        </p:spPr>
      </p:pic>
      <p:pic>
        <p:nvPicPr>
          <p:cNvPr id="7" name="Picture 6" descr="D:/桌面/393590086f02e3ff418c62c9bae946d8.jpg393590086f02e3ff418c62c9bae946d8"/>
          <p:cNvPicPr>
            <a:picLocks noChangeAspect="1"/>
          </p:cNvPicPr>
          <p:nvPr/>
        </p:nvPicPr>
        <p:blipFill>
          <a:blip r:embed="rId3"/>
          <a:srcRect t="33471" b="33529"/>
          <a:stretch>
            <a:fillRect/>
          </a:stretch>
        </p:blipFill>
        <p:spPr>
          <a:xfrm>
            <a:off x="6553200" y="2576512"/>
            <a:ext cx="4762500" cy="2095500"/>
          </a:xfrm>
          <a:prstGeom prst="rect">
            <a:avLst/>
          </a:prstGeom>
        </p:spPr>
      </p:pic>
      <p:sp>
        <p:nvSpPr>
          <p:cNvPr id="8" name="TextBox 7"/>
          <p:cNvSpPr txBox="1"/>
          <p:nvPr/>
        </p:nvSpPr>
        <p:spPr>
          <a:xfrm>
            <a:off x="609600" y="457200"/>
            <a:ext cx="11582400" cy="161925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1125" b="1" i="0" u="none">
                <a:solidFill>
                  <a:srgbClr val="1D4ED8"/>
                </a:solidFill>
                <a:latin typeface="Noto Sans SC" panose="020B0200000000000000" charset="-122"/>
              </a:rPr>
              <a:t>ZONE B &amp; ZONE C · STANDARD &amp; EXTERIOR PARTS</a:t>
            </a:r>
            <a:endParaRPr sz="1125" b="1" i="0" u="none">
              <a:solidFill>
                <a:srgbClr val="1D4ED8"/>
              </a:solidFill>
              <a:latin typeface="Noto Sans SC" panose="020B0200000000000000" charset="-122"/>
            </a:endParaRPr>
          </a:p>
        </p:txBody>
      </p:sp>
      <p:sp>
        <p:nvSpPr>
          <p:cNvPr id="9" name="TextBox 8"/>
          <p:cNvSpPr txBox="1"/>
          <p:nvPr/>
        </p:nvSpPr>
        <p:spPr>
          <a:xfrm>
            <a:off x="609600" y="695325"/>
            <a:ext cx="11582400" cy="419100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2400" b="1" i="0" u="none">
                <a:solidFill>
                  <a:srgbClr val="0F172A"/>
                </a:solidFill>
                <a:latin typeface="Noto Sans SC" panose="020B0200000000000000" charset="-122"/>
              </a:rPr>
              <a:t>B区标准件与C区外观件：系统归类与材质区分</a:t>
            </a:r>
            <a:endParaRPr sz="2400" b="1" i="0" u="none">
              <a:solidFill>
                <a:srgbClr val="0F172A"/>
              </a:solidFill>
              <a:latin typeface="Noto Sans SC" panose="020B0200000000000000" charset="-122"/>
            </a:endParaRPr>
          </a:p>
        </p:txBody>
      </p:sp>
      <p:sp>
        <p:nvSpPr>
          <p:cNvPr id="10" name="TextBox 9"/>
          <p:cNvSpPr txBox="1"/>
          <p:nvPr/>
        </p:nvSpPr>
        <p:spPr>
          <a:xfrm>
            <a:off x="876300" y="2214562"/>
            <a:ext cx="6250781" cy="304800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1800" b="1" i="0" u="none">
                <a:solidFill>
                  <a:srgbClr val="1D4ED8"/>
                </a:solidFill>
                <a:latin typeface="Noto Sans SC" panose="020B0200000000000000" charset="-122"/>
              </a:rPr>
              <a:t>B区：通用标准件（按系统归类）</a:t>
            </a:r>
            <a:endParaRPr sz="1800" b="1" i="0" u="none">
              <a:solidFill>
                <a:srgbClr val="1D4ED8"/>
              </a:solidFill>
              <a:latin typeface="Noto Sans SC" panose="020B0200000000000000" charset="-122"/>
            </a:endParaRPr>
          </a:p>
        </p:txBody>
      </p:sp>
      <p:sp>
        <p:nvSpPr>
          <p:cNvPr id="11" name="TextBox 10"/>
          <p:cNvSpPr txBox="1"/>
          <p:nvPr/>
        </p:nvSpPr>
        <p:spPr>
          <a:xfrm>
            <a:off x="6553200" y="2100262"/>
            <a:ext cx="5638800" cy="304800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1800" b="1" i="0" u="none">
                <a:solidFill>
                  <a:srgbClr val="EA580C"/>
                </a:solidFill>
                <a:latin typeface="Noto Sans SC" panose="020B0200000000000000" charset="-122"/>
              </a:rPr>
              <a:t>C区：外观件（按材质与大小区分）</a:t>
            </a:r>
            <a:endParaRPr sz="1800" b="1" i="0" u="none">
              <a:solidFill>
                <a:srgbClr val="EA580C"/>
              </a:solidFill>
              <a:latin typeface="Noto Sans SC" panose="020B0200000000000000" charset="-122"/>
            </a:endParaRPr>
          </a:p>
        </p:txBody>
      </p:sp>
      <p:sp>
        <p:nvSpPr>
          <p:cNvPr id="12" name="TextBox 11"/>
          <p:cNvSpPr txBox="1"/>
          <p:nvPr/>
        </p:nvSpPr>
        <p:spPr>
          <a:xfrm>
            <a:off x="876300" y="4957762"/>
            <a:ext cx="5953125" cy="228600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1350" b="1" i="0" u="none">
                <a:solidFill>
                  <a:srgbClr val="1E293B"/>
                </a:solidFill>
                <a:latin typeface="Noto Sans SC" panose="020B0200000000000000" charset="-122"/>
              </a:rPr>
              <a:t>三大系统同区：</a:t>
            </a:r>
            <a:r>
              <a:rPr sz="1350" b="0" i="0" u="none">
                <a:solidFill>
                  <a:srgbClr val="1E293B"/>
                </a:solidFill>
                <a:latin typeface="Noto Sans SC" panose="020B0200000000000000" charset="-122"/>
              </a:rPr>
              <a:t>转向碗件、驱动飞轮、碟刹油刹集中摆放。</a:t>
            </a:r>
            <a:endParaRPr sz="1350" b="0" i="0" u="none">
              <a:solidFill>
                <a:srgbClr val="1E293B"/>
              </a:solidFill>
              <a:latin typeface="Noto Sans SC" panose="020B0200000000000000" charset="-122"/>
            </a:endParaRPr>
          </a:p>
        </p:txBody>
      </p:sp>
      <p:sp>
        <p:nvSpPr>
          <p:cNvPr id="13" name="TextBox 12"/>
          <p:cNvSpPr txBox="1"/>
          <p:nvPr/>
        </p:nvSpPr>
        <p:spPr>
          <a:xfrm>
            <a:off x="876300" y="5300662"/>
            <a:ext cx="5953125" cy="228600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1350" b="1" i="0" u="none">
                <a:solidFill>
                  <a:srgbClr val="1E293B"/>
                </a:solidFill>
                <a:latin typeface="Noto Sans SC" panose="020B0200000000000000" charset="-122"/>
              </a:rPr>
              <a:t>五金小件专架：</a:t>
            </a:r>
            <a:r>
              <a:rPr sz="1350" b="0" i="0" u="none">
                <a:solidFill>
                  <a:srgbClr val="1E293B"/>
                </a:solidFill>
                <a:latin typeface="Noto Sans SC" panose="020B0200000000000000" charset="-122"/>
              </a:rPr>
              <a:t>车梯、滑道锁、锁钩、芯棒统一入筐集中。</a:t>
            </a:r>
            <a:endParaRPr sz="1350" b="0" i="0" u="none">
              <a:solidFill>
                <a:srgbClr val="1E293B"/>
              </a:solidFill>
              <a:latin typeface="Noto Sans SC" panose="020B0200000000000000" charset="-122"/>
            </a:endParaRPr>
          </a:p>
        </p:txBody>
      </p:sp>
      <p:sp>
        <p:nvSpPr>
          <p:cNvPr id="14" name="TextBox 13"/>
          <p:cNvSpPr txBox="1"/>
          <p:nvPr/>
        </p:nvSpPr>
        <p:spPr>
          <a:xfrm>
            <a:off x="6553200" y="4843462"/>
            <a:ext cx="4857750" cy="207645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350" b="1" i="0" u="none">
                <a:solidFill>
                  <a:srgbClr val="1E293B"/>
                </a:solidFill>
                <a:latin typeface="Noto Sans SC" panose="020B0200000000000000" charset="-122"/>
              </a:rPr>
              <a:t>大小分架陈列：</a:t>
            </a:r>
            <a:r>
              <a:rPr sz="1350" b="0" i="0" u="none">
                <a:solidFill>
                  <a:srgbClr val="1E293B"/>
                </a:solidFill>
                <a:latin typeface="Noto Sans SC" panose="020B0200000000000000" charset="-122"/>
              </a:rPr>
              <a:t>烤漆件与PP件分区，小外观件单架集中。</a:t>
            </a:r>
            <a:endParaRPr sz="1350" b="0" i="0" u="none">
              <a:solidFill>
                <a:srgbClr val="1E293B"/>
              </a:solidFill>
              <a:latin typeface="Noto Sans SC" panose="020B0200000000000000" charset="-122"/>
            </a:endParaRPr>
          </a:p>
        </p:txBody>
      </p:sp>
      <p:sp>
        <p:nvSpPr>
          <p:cNvPr id="15" name="TextBox 14"/>
          <p:cNvSpPr txBox="1"/>
          <p:nvPr/>
        </p:nvSpPr>
        <p:spPr>
          <a:xfrm>
            <a:off x="6553200" y="5414962"/>
            <a:ext cx="127000" cy="207645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endParaRPr sz="1350" b="0" i="0" u="none">
              <a:solidFill>
                <a:srgbClr val="1E293B"/>
              </a:solidFill>
              <a:latin typeface="Noto Sans SC" panose="020B0200000000000000" charset="-122"/>
            </a:endParaRP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/>
      <p:pic>
        <p:nvPicPr>
          <p:cNvPr id="2" name="Picture 1" descr="image.png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09600" y="1537970"/>
            <a:ext cx="6590665" cy="4596130"/>
          </a:xfrm>
          <a:prstGeom prst="rect">
            <a:avLst/>
          </a:prstGeom>
        </p:spPr>
      </p:pic>
      <p:pic>
        <p:nvPicPr>
          <p:cNvPr id="3" name="Picture 2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988185" y="1549400"/>
            <a:ext cx="3679190" cy="189357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609600" y="457200"/>
            <a:ext cx="11582400" cy="161925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1125" b="1" i="0" u="none">
                <a:solidFill>
                  <a:srgbClr val="1D4ED8"/>
                </a:solidFill>
                <a:latin typeface="Noto Sans SC" panose="020B0200000000000000" charset="-122"/>
              </a:rPr>
              <a:t>ZONE D · STRUCTURAL &amp; WEAR PARTS</a:t>
            </a:r>
            <a:endParaRPr sz="1125" b="1" i="0" u="none">
              <a:solidFill>
                <a:srgbClr val="1D4ED8"/>
              </a:solidFill>
              <a:latin typeface="Noto Sans SC" panose="020B0200000000000000" charset="-122"/>
            </a:endParaRPr>
          </a:p>
        </p:txBody>
      </p:sp>
      <p:sp>
        <p:nvSpPr>
          <p:cNvPr id="5" name="TextBox 4"/>
          <p:cNvSpPr txBox="1"/>
          <p:nvPr/>
        </p:nvSpPr>
        <p:spPr>
          <a:xfrm>
            <a:off x="609600" y="695325"/>
            <a:ext cx="11582400" cy="419100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2400" b="1" i="0" u="none">
                <a:solidFill>
                  <a:srgbClr val="0F172A"/>
                </a:solidFill>
                <a:latin typeface="Noto Sans SC" panose="020B0200000000000000" charset="-122"/>
              </a:rPr>
              <a:t>D区结构件：管件直接上架与横梁防刮保护</a:t>
            </a:r>
            <a:endParaRPr sz="2400" b="1" i="0" u="none">
              <a:solidFill>
                <a:srgbClr val="0F172A"/>
              </a:solidFill>
              <a:latin typeface="Noto Sans SC" panose="020B0200000000000000" charset="-122"/>
            </a:endParaRPr>
          </a:p>
        </p:txBody>
      </p:sp>
      <p:sp>
        <p:nvSpPr>
          <p:cNvPr id="6" name="TextBox 5"/>
          <p:cNvSpPr txBox="1"/>
          <p:nvPr/>
        </p:nvSpPr>
        <p:spPr>
          <a:xfrm>
            <a:off x="7581007" y="2319337"/>
            <a:ext cx="4610992" cy="285750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1650" b="1" i="0" u="none">
                <a:solidFill>
                  <a:srgbClr val="1D4ED8"/>
                </a:solidFill>
                <a:latin typeface="Noto Sans SC" panose="020B0200000000000000" charset="-122"/>
              </a:rPr>
              <a:t>长条管件免筐上架</a:t>
            </a:r>
            <a:endParaRPr sz="1650" b="1" i="0" u="none">
              <a:solidFill>
                <a:srgbClr val="1D4ED8"/>
              </a:solidFill>
              <a:latin typeface="Noto Sans SC" panose="020B0200000000000000" charset="-122"/>
            </a:endParaRPr>
          </a:p>
        </p:txBody>
      </p:sp>
      <p:sp>
        <p:nvSpPr>
          <p:cNvPr id="7" name="TextBox 6"/>
          <p:cNvSpPr txBox="1"/>
          <p:nvPr/>
        </p:nvSpPr>
        <p:spPr>
          <a:xfrm>
            <a:off x="7581007" y="2681287"/>
            <a:ext cx="4096642" cy="4953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425" b="0" i="0" u="none">
                <a:solidFill>
                  <a:srgbClr val="334155"/>
                </a:solidFill>
                <a:latin typeface="Noto Sans SC" panose="020B0200000000000000" charset="-122"/>
              </a:rPr>
              <a:t>车把、前叉、后平叉按车型成排直接陈列于重型货架横梁。</a:t>
            </a:r>
            <a:endParaRPr sz="1425" b="0" i="0" u="none">
              <a:solidFill>
                <a:srgbClr val="334155"/>
              </a:solidFill>
              <a:latin typeface="Noto Sans SC" panose="020B0200000000000000" charset="-122"/>
            </a:endParaRPr>
          </a:p>
        </p:txBody>
      </p:sp>
      <p:sp>
        <p:nvSpPr>
          <p:cNvPr id="8" name="TextBox 7"/>
          <p:cNvSpPr txBox="1"/>
          <p:nvPr/>
        </p:nvSpPr>
        <p:spPr>
          <a:xfrm>
            <a:off x="7581007" y="3443287"/>
            <a:ext cx="4610992" cy="285750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1650" b="1" i="0" u="none">
                <a:solidFill>
                  <a:srgbClr val="EA580C"/>
                </a:solidFill>
                <a:latin typeface="Noto Sans SC" panose="020B0200000000000000" charset="-122"/>
              </a:rPr>
              <a:t>横梁包裹防护层</a:t>
            </a:r>
            <a:endParaRPr sz="1650" b="1" i="0" u="none">
              <a:solidFill>
                <a:srgbClr val="EA580C"/>
              </a:solidFill>
              <a:latin typeface="Noto Sans SC" panose="020B0200000000000000" charset="-122"/>
            </a:endParaRPr>
          </a:p>
        </p:txBody>
      </p:sp>
      <p:sp>
        <p:nvSpPr>
          <p:cNvPr id="9" name="TextBox 8"/>
          <p:cNvSpPr txBox="1"/>
          <p:nvPr/>
        </p:nvSpPr>
        <p:spPr>
          <a:xfrm>
            <a:off x="7581007" y="3805237"/>
            <a:ext cx="4096642" cy="4953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425" b="0" i="0" u="none">
                <a:solidFill>
                  <a:srgbClr val="334155"/>
                </a:solidFill>
                <a:latin typeface="Noto Sans SC" panose="020B0200000000000000" charset="-122"/>
              </a:rPr>
              <a:t>货架横梁统一包裹防刮保护膜，严防金属构件掉漆磨损。</a:t>
            </a:r>
            <a:endParaRPr sz="1425" b="0" i="0" u="none">
              <a:solidFill>
                <a:srgbClr val="334155"/>
              </a:solidFill>
              <a:latin typeface="Noto Sans SC" panose="020B0200000000000000" charset="-122"/>
            </a:endParaRPr>
          </a:p>
        </p:txBody>
      </p:sp>
      <p:sp>
        <p:nvSpPr>
          <p:cNvPr id="10" name="TextBox 9"/>
          <p:cNvSpPr txBox="1"/>
          <p:nvPr/>
        </p:nvSpPr>
        <p:spPr>
          <a:xfrm>
            <a:off x="7581007" y="4567237"/>
            <a:ext cx="4610992" cy="285750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1650" b="1" i="0" u="none">
                <a:solidFill>
                  <a:srgbClr val="0F172A"/>
                </a:solidFill>
                <a:latin typeface="Noto Sans SC" panose="020B0200000000000000" charset="-122"/>
              </a:rPr>
              <a:t>底层地面整箱存放</a:t>
            </a:r>
            <a:endParaRPr sz="1650" b="1" i="0" u="none">
              <a:solidFill>
                <a:srgbClr val="0F172A"/>
              </a:solidFill>
              <a:latin typeface="Noto Sans SC" panose="020B0200000000000000" charset="-122"/>
            </a:endParaRPr>
          </a:p>
        </p:txBody>
      </p:sp>
      <p:sp>
        <p:nvSpPr>
          <p:cNvPr id="11" name="TextBox 10"/>
          <p:cNvSpPr txBox="1"/>
          <p:nvPr/>
        </p:nvSpPr>
        <p:spPr>
          <a:xfrm>
            <a:off x="7581007" y="4929187"/>
            <a:ext cx="4096642" cy="4953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425" b="0" i="0" u="none">
                <a:solidFill>
                  <a:srgbClr val="334155"/>
                </a:solidFill>
                <a:latin typeface="Noto Sans SC" panose="020B0200000000000000" charset="-122"/>
              </a:rPr>
              <a:t>货架底层地面整齐放置黄盖储物箱或原厂整箱重件。</a:t>
            </a:r>
            <a:endParaRPr sz="1425" b="0" i="0" u="none">
              <a:solidFill>
                <a:srgbClr val="334155"/>
              </a:solidFill>
              <a:latin typeface="Noto Sans SC" panose="020B0200000000000000" charset="-122"/>
            </a:endParaRPr>
          </a:p>
        </p:txBody>
      </p:sp>
      <p:pic>
        <p:nvPicPr>
          <p:cNvPr id="12" name="Picture 4" descr="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988185" y="3451860"/>
            <a:ext cx="3679190" cy="2705735"/>
          </a:xfrm>
          <a:prstGeom prst="rect">
            <a:avLst/>
          </a:prstGeom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609600" y="3052762"/>
            <a:ext cx="3479750" cy="1638300"/>
          </a:xfrm>
          <a:prstGeom prst="roundRect">
            <a:avLst>
              <a:gd name="adj" fmla="val 6976"/>
            </a:avLst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4356050" y="3052762"/>
            <a:ext cx="3479750" cy="1638300"/>
          </a:xfrm>
          <a:prstGeom prst="roundRect">
            <a:avLst>
              <a:gd name="adj" fmla="val 6976"/>
            </a:avLst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ounded Rectangle 3"/>
          <p:cNvSpPr/>
          <p:nvPr/>
        </p:nvSpPr>
        <p:spPr>
          <a:xfrm>
            <a:off x="8102500" y="3052762"/>
            <a:ext cx="3479750" cy="1638300"/>
          </a:xfrm>
          <a:prstGeom prst="roundRect">
            <a:avLst>
              <a:gd name="adj" fmla="val 6976"/>
            </a:avLst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09600" y="457200"/>
            <a:ext cx="11582400" cy="161925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1125" b="1" i="0" u="none">
                <a:solidFill>
                  <a:srgbClr val="1D4ED8"/>
                </a:solidFill>
                <a:latin typeface="Noto Sans SC" panose="020B0200000000000000" charset="-122"/>
              </a:rPr>
              <a:t>PART 02 · VEHICLE CATEGORY SEGREGATION</a:t>
            </a:r>
            <a:endParaRPr sz="1125" b="1" i="0" u="none">
              <a:solidFill>
                <a:srgbClr val="1D4ED8"/>
              </a:solidFill>
              <a:latin typeface="Noto Sans SC" panose="020B0200000000000000" charset="-122"/>
            </a:endParaRPr>
          </a:p>
        </p:txBody>
      </p:sp>
      <p:sp>
        <p:nvSpPr>
          <p:cNvPr id="6" name="TextBox 5"/>
          <p:cNvSpPr txBox="1"/>
          <p:nvPr/>
        </p:nvSpPr>
        <p:spPr>
          <a:xfrm>
            <a:off x="609600" y="695325"/>
            <a:ext cx="5815330" cy="368935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2400" b="1" i="0" u="none">
                <a:solidFill>
                  <a:srgbClr val="0F172A"/>
                </a:solidFill>
                <a:latin typeface="Noto Sans SC" panose="020B0200000000000000" charset="-122"/>
              </a:rPr>
              <a:t>二、按车型分置策略：两轮、三轮与滑板车</a:t>
            </a:r>
            <a:endParaRPr sz="2400" b="1" i="0" u="none">
              <a:solidFill>
                <a:srgbClr val="0F172A"/>
              </a:solidFill>
              <a:latin typeface="Noto Sans SC" panose="020B0200000000000000" charset="-122"/>
            </a:endParaRPr>
          </a:p>
        </p:txBody>
      </p:sp>
      <p:sp>
        <p:nvSpPr>
          <p:cNvPr id="7" name="TextBox 6"/>
          <p:cNvSpPr txBox="1"/>
          <p:nvPr/>
        </p:nvSpPr>
        <p:spPr>
          <a:xfrm>
            <a:off x="876300" y="3395662"/>
            <a:ext cx="3682937" cy="171450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1200" b="1" i="0" u="none">
                <a:solidFill>
                  <a:srgbClr val="1D4ED8"/>
                </a:solidFill>
                <a:latin typeface="Noto Sans SC" panose="020B0200000000000000" charset="-122"/>
              </a:rPr>
              <a:t>TWO-WHEELER ZONE</a:t>
            </a:r>
            <a:endParaRPr sz="1200" b="1" i="0" u="none">
              <a:solidFill>
                <a:srgbClr val="1D4ED8"/>
              </a:solidFill>
              <a:latin typeface="Noto Sans SC" panose="020B0200000000000000" charset="-122"/>
            </a:endParaRPr>
          </a:p>
        </p:txBody>
      </p:sp>
      <p:sp>
        <p:nvSpPr>
          <p:cNvPr id="8" name="TextBox 7"/>
          <p:cNvSpPr txBox="1"/>
          <p:nvPr/>
        </p:nvSpPr>
        <p:spPr>
          <a:xfrm>
            <a:off x="876300" y="3681412"/>
            <a:ext cx="3867084" cy="304800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1800" b="1" i="0" u="none">
                <a:solidFill>
                  <a:srgbClr val="0F172A"/>
                </a:solidFill>
                <a:latin typeface="Noto Sans SC" panose="020B0200000000000000" charset="-122"/>
              </a:rPr>
              <a:t>两轮车独立成区</a:t>
            </a:r>
            <a:endParaRPr sz="1800" b="1" i="0" u="none">
              <a:solidFill>
                <a:srgbClr val="0F172A"/>
              </a:solidFill>
              <a:latin typeface="Noto Sans SC" panose="020B0200000000000000" charset="-122"/>
            </a:endParaRPr>
          </a:p>
        </p:txBody>
      </p:sp>
      <p:sp>
        <p:nvSpPr>
          <p:cNvPr id="9" name="TextBox 8"/>
          <p:cNvSpPr txBox="1"/>
          <p:nvPr/>
        </p:nvSpPr>
        <p:spPr>
          <a:xfrm>
            <a:off x="876300" y="4100512"/>
            <a:ext cx="3682937" cy="247650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1425" b="0" i="0" u="none">
                <a:solidFill>
                  <a:srgbClr val="475569"/>
                </a:solidFill>
                <a:latin typeface="Noto Sans SC" panose="020B0200000000000000" charset="-122"/>
              </a:rPr>
              <a:t>严格按一趟一层一车型细分存放。</a:t>
            </a:r>
            <a:endParaRPr sz="1425" b="0" i="0" u="none">
              <a:solidFill>
                <a:srgbClr val="475569"/>
              </a:solidFill>
              <a:latin typeface="Noto Sans SC" panose="020B0200000000000000" charset="-122"/>
            </a:endParaRPr>
          </a:p>
        </p:txBody>
      </p:sp>
      <p:sp>
        <p:nvSpPr>
          <p:cNvPr id="10" name="TextBox 9"/>
          <p:cNvSpPr txBox="1"/>
          <p:nvPr/>
        </p:nvSpPr>
        <p:spPr>
          <a:xfrm>
            <a:off x="4622750" y="3395662"/>
            <a:ext cx="3682937" cy="171450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1200" b="1" i="0" u="none">
                <a:solidFill>
                  <a:srgbClr val="EA580C"/>
                </a:solidFill>
                <a:latin typeface="Noto Sans SC" panose="020B0200000000000000" charset="-122"/>
              </a:rPr>
              <a:t>TRICYCLE ZONE</a:t>
            </a:r>
            <a:endParaRPr sz="1200" b="1" i="0" u="none">
              <a:solidFill>
                <a:srgbClr val="EA580C"/>
              </a:solidFill>
              <a:latin typeface="Noto Sans SC" panose="020B0200000000000000" charset="-122"/>
            </a:endParaRPr>
          </a:p>
        </p:txBody>
      </p:sp>
      <p:sp>
        <p:nvSpPr>
          <p:cNvPr id="11" name="TextBox 10"/>
          <p:cNvSpPr txBox="1"/>
          <p:nvPr/>
        </p:nvSpPr>
        <p:spPr>
          <a:xfrm>
            <a:off x="4622750" y="3681412"/>
            <a:ext cx="3867084" cy="304800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1800" b="1" i="0" u="none">
                <a:solidFill>
                  <a:srgbClr val="0F172A"/>
                </a:solidFill>
                <a:latin typeface="Noto Sans SC" panose="020B0200000000000000" charset="-122"/>
              </a:rPr>
              <a:t>三轮车合并存放</a:t>
            </a:r>
            <a:endParaRPr sz="1800" b="1" i="0" u="none">
              <a:solidFill>
                <a:srgbClr val="0F172A"/>
              </a:solidFill>
              <a:latin typeface="Noto Sans SC" panose="020B0200000000000000" charset="-122"/>
            </a:endParaRPr>
          </a:p>
        </p:txBody>
      </p:sp>
      <p:sp>
        <p:nvSpPr>
          <p:cNvPr id="12" name="TextBox 11"/>
          <p:cNvSpPr txBox="1"/>
          <p:nvPr/>
        </p:nvSpPr>
        <p:spPr>
          <a:xfrm>
            <a:off x="4622750" y="4100512"/>
            <a:ext cx="3682937" cy="247650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1425" b="0" i="0" u="none">
                <a:solidFill>
                  <a:srgbClr val="475569"/>
                </a:solidFill>
                <a:latin typeface="Noto Sans SC" panose="020B0200000000000000" charset="-122"/>
              </a:rPr>
              <a:t>休三与货三同区按车型集中备货。</a:t>
            </a:r>
            <a:endParaRPr sz="1425" b="0" i="0" u="none">
              <a:solidFill>
                <a:srgbClr val="475569"/>
              </a:solidFill>
              <a:latin typeface="Noto Sans SC" panose="020B0200000000000000" charset="-122"/>
            </a:endParaRPr>
          </a:p>
        </p:txBody>
      </p:sp>
      <p:sp>
        <p:nvSpPr>
          <p:cNvPr id="13" name="TextBox 12"/>
          <p:cNvSpPr txBox="1"/>
          <p:nvPr/>
        </p:nvSpPr>
        <p:spPr>
          <a:xfrm>
            <a:off x="8369200" y="3395662"/>
            <a:ext cx="3682937" cy="171450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1200" b="1" i="0" u="none">
                <a:solidFill>
                  <a:srgbClr val="1D4ED8"/>
                </a:solidFill>
                <a:latin typeface="Noto Sans SC" panose="020B0200000000000000" charset="-122"/>
              </a:rPr>
              <a:t>SCOOTER ZONE</a:t>
            </a:r>
            <a:endParaRPr sz="1200" b="1" i="0" u="none">
              <a:solidFill>
                <a:srgbClr val="1D4ED8"/>
              </a:solidFill>
              <a:latin typeface="Noto Sans SC" panose="020B0200000000000000" charset="-122"/>
            </a:endParaRPr>
          </a:p>
        </p:txBody>
      </p:sp>
      <p:sp>
        <p:nvSpPr>
          <p:cNvPr id="14" name="TextBox 13"/>
          <p:cNvSpPr txBox="1"/>
          <p:nvPr/>
        </p:nvSpPr>
        <p:spPr>
          <a:xfrm>
            <a:off x="8369200" y="3681412"/>
            <a:ext cx="3822799" cy="304800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1800" b="1" i="0" u="none">
                <a:solidFill>
                  <a:srgbClr val="0F172A"/>
                </a:solidFill>
                <a:latin typeface="Noto Sans SC" panose="020B0200000000000000" charset="-122"/>
              </a:rPr>
              <a:t>滑板车全件集中</a:t>
            </a:r>
            <a:endParaRPr sz="1800" b="1" i="0" u="none">
              <a:solidFill>
                <a:srgbClr val="0F172A"/>
              </a:solidFill>
              <a:latin typeface="Noto Sans SC" panose="020B0200000000000000" charset="-122"/>
            </a:endParaRPr>
          </a:p>
        </p:txBody>
      </p:sp>
      <p:sp>
        <p:nvSpPr>
          <p:cNvPr id="15" name="TextBox 14"/>
          <p:cNvSpPr txBox="1"/>
          <p:nvPr/>
        </p:nvSpPr>
        <p:spPr>
          <a:xfrm>
            <a:off x="8369200" y="4100512"/>
            <a:ext cx="3682937" cy="247650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1425" b="0" i="0" u="none">
                <a:solidFill>
                  <a:srgbClr val="475569"/>
                </a:solidFill>
                <a:latin typeface="Noto Sans SC" panose="020B0200000000000000" charset="-122"/>
              </a:rPr>
              <a:t>电机前叉等全系配件单区统管。</a:t>
            </a:r>
            <a:endParaRPr sz="1425" b="0" i="0" u="none">
              <a:solidFill>
                <a:srgbClr val="475569"/>
              </a:solidFill>
              <a:latin typeface="Noto Sans SC" panose="020B0200000000000000" charset="-122"/>
            </a:endParaRP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609600" y="2309812"/>
            <a:ext cx="4926359" cy="1409700"/>
          </a:xfrm>
          <a:prstGeom prst="roundRect">
            <a:avLst>
              <a:gd name="adj" fmla="val 8108"/>
            </a:avLst>
          </a:prstGeom>
          <a:solidFill>
            <a:srgbClr val="F8FA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609600" y="4024312"/>
            <a:ext cx="4926359" cy="1409700"/>
          </a:xfrm>
          <a:prstGeom prst="roundRect">
            <a:avLst>
              <a:gd name="adj" fmla="val 8108"/>
            </a:avLst>
          </a:prstGeom>
          <a:solidFill>
            <a:srgbClr val="F8FA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4" name="Picture 3" descr="image.png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916930" y="1585595"/>
            <a:ext cx="5665470" cy="1867535"/>
          </a:xfrm>
          <a:prstGeom prst="rect">
            <a:avLst/>
          </a:prstGeom>
        </p:spPr>
      </p:pic>
      <p:pic>
        <p:nvPicPr>
          <p:cNvPr id="5" name="Picture 4" descr="D:/桌面/f49fa942c7a4ce347a55fe60deb6a87d.jpgf49fa942c7a4ce347a55fe60deb6a87d"/>
          <p:cNvPicPr>
            <a:picLocks noChangeAspect="1"/>
          </p:cNvPicPr>
          <p:nvPr/>
        </p:nvPicPr>
        <p:blipFill>
          <a:blip r:embed="rId2"/>
          <a:srcRect t="27266" b="27318"/>
          <a:stretch>
            <a:fillRect/>
          </a:stretch>
        </p:blipFill>
        <p:spPr>
          <a:xfrm>
            <a:off x="5916930" y="1113790"/>
            <a:ext cx="5089525" cy="2372995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609600" y="457200"/>
            <a:ext cx="11582400" cy="161925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1125" b="1" i="0" u="none">
                <a:solidFill>
                  <a:srgbClr val="1D4ED8"/>
                </a:solidFill>
                <a:latin typeface="Noto Sans SC" panose="020B0200000000000000" charset="-122"/>
              </a:rPr>
              <a:t>PART 03 · CONTAINER &amp; CARTON STANDARD</a:t>
            </a:r>
            <a:endParaRPr sz="1125" b="1" i="0" u="none">
              <a:solidFill>
                <a:srgbClr val="1D4ED8"/>
              </a:solidFill>
              <a:latin typeface="Noto Sans SC" panose="020B0200000000000000" charset="-122"/>
            </a:endParaRPr>
          </a:p>
        </p:txBody>
      </p:sp>
      <p:sp>
        <p:nvSpPr>
          <p:cNvPr id="7" name="TextBox 6"/>
          <p:cNvSpPr txBox="1"/>
          <p:nvPr/>
        </p:nvSpPr>
        <p:spPr>
          <a:xfrm>
            <a:off x="609600" y="695325"/>
            <a:ext cx="11582400" cy="419100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2400" b="1" i="0" u="none">
                <a:solidFill>
                  <a:srgbClr val="0F172A"/>
                </a:solidFill>
                <a:latin typeface="Noto Sans SC" panose="020B0200000000000000" charset="-122"/>
              </a:rPr>
              <a:t>三、容器规范：零散件入筐与整箱件原箱上架</a:t>
            </a:r>
            <a:endParaRPr sz="2400" b="1" i="0" u="none">
              <a:solidFill>
                <a:srgbClr val="0F172A"/>
              </a:solidFill>
              <a:latin typeface="Noto Sans SC" panose="020B0200000000000000" charset="-122"/>
            </a:endParaRPr>
          </a:p>
        </p:txBody>
      </p:sp>
      <p:sp>
        <p:nvSpPr>
          <p:cNvPr id="8" name="TextBox 7"/>
          <p:cNvSpPr txBox="1"/>
          <p:nvPr/>
        </p:nvSpPr>
        <p:spPr>
          <a:xfrm>
            <a:off x="876300" y="2576512"/>
            <a:ext cx="5765759" cy="285750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1650" b="1" i="0" u="none">
                <a:solidFill>
                  <a:srgbClr val="1D4ED8"/>
                </a:solidFill>
                <a:latin typeface="Noto Sans SC" panose="020B0200000000000000" charset="-122"/>
              </a:rPr>
              <a:t>1. 拆零散件统一入黑筐</a:t>
            </a:r>
            <a:endParaRPr sz="1650" b="1" i="0" u="none">
              <a:solidFill>
                <a:srgbClr val="1D4ED8"/>
              </a:solidFill>
              <a:latin typeface="Noto Sans SC" panose="020B0200000000000000" charset="-122"/>
            </a:endParaRPr>
          </a:p>
        </p:txBody>
      </p:sp>
      <p:sp>
        <p:nvSpPr>
          <p:cNvPr id="9" name="TextBox 8"/>
          <p:cNvSpPr txBox="1"/>
          <p:nvPr/>
        </p:nvSpPr>
        <p:spPr>
          <a:xfrm>
            <a:off x="876300" y="2957512"/>
            <a:ext cx="4488209" cy="4953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425" b="0" i="0" u="none">
                <a:solidFill>
                  <a:srgbClr val="334155"/>
                </a:solidFill>
                <a:latin typeface="Noto Sans SC" panose="020B0200000000000000" charset="-122"/>
              </a:rPr>
              <a:t>拆零的电器件、标准件、外观小件统一装入黑色塑料周转筐中整齐排列，杜绝散乱堆放。</a:t>
            </a:r>
            <a:endParaRPr sz="1425" b="0" i="0" u="none">
              <a:solidFill>
                <a:srgbClr val="334155"/>
              </a:solidFill>
              <a:latin typeface="Noto Sans SC" panose="020B0200000000000000" charset="-122"/>
            </a:endParaRPr>
          </a:p>
        </p:txBody>
      </p:sp>
      <p:sp>
        <p:nvSpPr>
          <p:cNvPr id="10" name="TextBox 9"/>
          <p:cNvSpPr txBox="1"/>
          <p:nvPr/>
        </p:nvSpPr>
        <p:spPr>
          <a:xfrm>
            <a:off x="876300" y="4291012"/>
            <a:ext cx="5765759" cy="285750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1650" b="1" i="0" u="none">
                <a:solidFill>
                  <a:srgbClr val="EA580C"/>
                </a:solidFill>
                <a:latin typeface="Noto Sans SC" panose="020B0200000000000000" charset="-122"/>
              </a:rPr>
              <a:t>2. 整箱来货原箱直接上架</a:t>
            </a:r>
            <a:endParaRPr sz="1650" b="1" i="0" u="none">
              <a:solidFill>
                <a:srgbClr val="EA580C"/>
              </a:solidFill>
              <a:latin typeface="Noto Sans SC" panose="020B0200000000000000" charset="-122"/>
            </a:endParaRPr>
          </a:p>
        </p:txBody>
      </p:sp>
      <p:sp>
        <p:nvSpPr>
          <p:cNvPr id="11" name="TextBox 10"/>
          <p:cNvSpPr txBox="1"/>
          <p:nvPr/>
        </p:nvSpPr>
        <p:spPr>
          <a:xfrm>
            <a:off x="876300" y="4672012"/>
            <a:ext cx="4488209" cy="4953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425" b="0" i="0" u="none">
                <a:solidFill>
                  <a:srgbClr val="334155"/>
                </a:solidFill>
                <a:latin typeface="Noto Sans SC" panose="020B0200000000000000" charset="-122"/>
              </a:rPr>
              <a:t>带有原厂清晰唛头的整箱来货，后排或备货区一律不拆筐，保持原箱状态整箱码放，节省工时与容器成本。</a:t>
            </a:r>
            <a:endParaRPr sz="1425" b="0" i="0" u="none">
              <a:solidFill>
                <a:srgbClr val="334155"/>
              </a:solidFill>
              <a:latin typeface="Noto Sans SC" panose="020B0200000000000000" charset="-122"/>
            </a:endParaRPr>
          </a:p>
        </p:txBody>
      </p:sp>
      <p:pic>
        <p:nvPicPr>
          <p:cNvPr id="12" name="Picture 4" descr="D:/桌面/e743f902696dbfae8a634a5cb794223b.jpge743f902696dbfae8a634a5cb794223b"/>
          <p:cNvPicPr>
            <a:picLocks noChangeAspect="1"/>
          </p:cNvPicPr>
          <p:nvPr/>
        </p:nvPicPr>
        <p:blipFill>
          <a:blip r:embed="rId3"/>
          <a:srcRect t="32485" b="32543"/>
          <a:stretch>
            <a:fillRect/>
          </a:stretch>
        </p:blipFill>
        <p:spPr>
          <a:xfrm>
            <a:off x="5916930" y="3613785"/>
            <a:ext cx="5089525" cy="2372995"/>
          </a:xfrm>
          <a:prstGeom prst="rect">
            <a:avLst/>
          </a:prstGeom>
        </p:spPr>
      </p:pic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>
            <p:custDataLst>
              <p:tags r:id="rId1"/>
            </p:custDataLst>
          </p:nvPr>
        </p:nvSpPr>
        <p:spPr>
          <a:xfrm>
            <a:off x="609600" y="1862137"/>
            <a:ext cx="5314950" cy="4019550"/>
          </a:xfrm>
          <a:prstGeom prst="roundRect">
            <a:avLst>
              <a:gd name="adj" fmla="val 2843"/>
            </a:avLst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>
            <p:custDataLst>
              <p:tags r:id="rId2"/>
            </p:custDataLst>
          </p:nvPr>
        </p:nvSpPr>
        <p:spPr>
          <a:xfrm>
            <a:off x="6267450" y="1862137"/>
            <a:ext cx="5314950" cy="4019550"/>
          </a:xfrm>
          <a:prstGeom prst="roundRect">
            <a:avLst>
              <a:gd name="adj" fmla="val 2843"/>
            </a:avLst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4" name="Picture 3" descr="D:/桌面/095d6059021a5928aa744c90b8c5d447.jpg095d6059021a5928aa744c90b8c5d447"/>
          <p:cNvPicPr>
            <a:picLocks noChangeAspect="1"/>
          </p:cNvPicPr>
          <p:nvPr>
            <p:custDataLst>
              <p:tags r:id="rId3"/>
            </p:custDataLst>
          </p:nvPr>
        </p:nvPicPr>
        <p:blipFill>
          <a:blip r:embed="rId4"/>
          <a:srcRect t="8057" b="8335"/>
          <a:stretch>
            <a:fillRect/>
          </a:stretch>
        </p:blipFill>
        <p:spPr>
          <a:xfrm>
            <a:off x="838200" y="2090737"/>
            <a:ext cx="4857750" cy="2286000"/>
          </a:xfrm>
          <a:prstGeom prst="rect">
            <a:avLst/>
          </a:prstGeom>
        </p:spPr>
      </p:pic>
      <p:pic>
        <p:nvPicPr>
          <p:cNvPr id="5" name="Picture 4" descr="image.png"/>
          <p:cNvPicPr>
            <a:picLocks noChangeAspect="1"/>
          </p:cNvPicPr>
          <p:nvPr>
            <p:custDataLst>
              <p:tags r:id="rId5"/>
            </p:custDataLst>
          </p:nvPr>
        </p:nvPicPr>
        <p:blipFill>
          <a:blip r:embed="rId6"/>
          <a:stretch>
            <a:fillRect/>
          </a:stretch>
        </p:blipFill>
        <p:spPr>
          <a:xfrm>
            <a:off x="6496050" y="2090737"/>
            <a:ext cx="4857750" cy="2286000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609600" y="457200"/>
            <a:ext cx="11582400" cy="161925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1125" b="1" i="0" u="none">
                <a:solidFill>
                  <a:srgbClr val="1D4ED8"/>
                </a:solidFill>
                <a:latin typeface="Noto Sans SC" panose="020B0200000000000000" charset="-122"/>
              </a:rPr>
              <a:t>PART 03 · VISUAL MANAGEMENT SYSTEM</a:t>
            </a:r>
            <a:endParaRPr sz="1125" b="1" i="0" u="none">
              <a:solidFill>
                <a:srgbClr val="1D4ED8"/>
              </a:solidFill>
              <a:latin typeface="Noto Sans SC" panose="020B0200000000000000" charset="-122"/>
            </a:endParaRPr>
          </a:p>
        </p:txBody>
      </p:sp>
      <p:sp>
        <p:nvSpPr>
          <p:cNvPr id="7" name="TextBox 6"/>
          <p:cNvSpPr txBox="1"/>
          <p:nvPr/>
        </p:nvSpPr>
        <p:spPr>
          <a:xfrm>
            <a:off x="609600" y="695325"/>
            <a:ext cx="11582400" cy="419100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2400" b="1" i="0" u="none">
                <a:solidFill>
                  <a:srgbClr val="0F172A"/>
                </a:solidFill>
                <a:latin typeface="Noto Sans SC" panose="020B0200000000000000" charset="-122"/>
              </a:rPr>
              <a:t>三、双重目视化标识：进仓一眼锁定目标物料</a:t>
            </a:r>
            <a:endParaRPr sz="2400" b="1" i="0" u="none">
              <a:solidFill>
                <a:srgbClr val="0F172A"/>
              </a:solidFill>
              <a:latin typeface="Noto Sans SC" panose="020B0200000000000000" charset="-122"/>
            </a:endParaRPr>
          </a:p>
        </p:txBody>
      </p:sp>
      <p:sp>
        <p:nvSpPr>
          <p:cNvPr id="8" name="TextBox 7"/>
          <p:cNvSpPr txBox="1"/>
          <p:nvPr>
            <p:custDataLst>
              <p:tags r:id="rId7"/>
            </p:custDataLst>
          </p:nvPr>
        </p:nvSpPr>
        <p:spPr>
          <a:xfrm>
            <a:off x="838200" y="4529137"/>
            <a:ext cx="6375796" cy="285750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1650" b="1" i="0" u="none">
                <a:solidFill>
                  <a:srgbClr val="1D4ED8"/>
                </a:solidFill>
                <a:latin typeface="Noto Sans SC" panose="020B0200000000000000" charset="-122"/>
              </a:rPr>
              <a:t>1. 周转筐正面标签（白底/黄框卡）</a:t>
            </a:r>
            <a:endParaRPr sz="1650" b="1" i="0" u="none">
              <a:solidFill>
                <a:srgbClr val="1D4ED8"/>
              </a:solidFill>
              <a:latin typeface="Noto Sans SC" panose="020B0200000000000000" charset="-122"/>
            </a:endParaRPr>
          </a:p>
        </p:txBody>
      </p:sp>
      <p:sp>
        <p:nvSpPr>
          <p:cNvPr id="9" name="TextBox 8"/>
          <p:cNvSpPr txBox="1"/>
          <p:nvPr>
            <p:custDataLst>
              <p:tags r:id="rId8"/>
            </p:custDataLst>
          </p:nvPr>
        </p:nvSpPr>
        <p:spPr>
          <a:xfrm>
            <a:off x="838200" y="4967287"/>
            <a:ext cx="4953000" cy="41529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350" b="0" i="0" u="none">
                <a:solidFill>
                  <a:srgbClr val="334155"/>
                </a:solidFill>
                <a:latin typeface="Noto Sans SC" panose="020B0200000000000000" charset="-122"/>
              </a:rPr>
              <a:t>标注</a:t>
            </a:r>
            <a:r>
              <a:rPr sz="1350" b="1" i="0" u="none">
                <a:solidFill>
                  <a:srgbClr val="334155"/>
                </a:solidFill>
                <a:latin typeface="Noto Sans SC" panose="020B0200000000000000" charset="-122"/>
              </a:rPr>
              <a:t>物料编码 + 中西双语名称</a:t>
            </a:r>
            <a:r>
              <a:rPr sz="1350" b="0" i="0" u="none">
                <a:solidFill>
                  <a:srgbClr val="334155"/>
                </a:solidFill>
                <a:latin typeface="Noto Sans SC" panose="020B0200000000000000" charset="-122"/>
              </a:rPr>
              <a:t>（如 ACELERADOR 转把、FRENO DE MANO 刹把）+ </a:t>
            </a:r>
            <a:r>
              <a:rPr sz="1350" b="1" i="0" u="none">
                <a:solidFill>
                  <a:srgbClr val="334155"/>
                </a:solidFill>
                <a:latin typeface="Noto Sans SC" panose="020B0200000000000000" charset="-122"/>
              </a:rPr>
              <a:t>适用车型</a:t>
            </a:r>
            <a:r>
              <a:rPr sz="1350" b="0" i="0" u="none">
                <a:solidFill>
                  <a:srgbClr val="334155"/>
                </a:solidFill>
                <a:latin typeface="Noto Sans SC" panose="020B0200000000000000" charset="-122"/>
              </a:rPr>
              <a:t>（MANGO、FAMILY、GALAXY）。</a:t>
            </a:r>
            <a:endParaRPr sz="1350" b="0" i="0" u="none">
              <a:solidFill>
                <a:srgbClr val="334155"/>
              </a:solidFill>
              <a:latin typeface="Noto Sans SC" panose="020B0200000000000000" charset="-122"/>
            </a:endParaRPr>
          </a:p>
        </p:txBody>
      </p:sp>
      <p:sp>
        <p:nvSpPr>
          <p:cNvPr id="10" name="TextBox 9"/>
          <p:cNvSpPr txBox="1"/>
          <p:nvPr>
            <p:custDataLst>
              <p:tags r:id="rId9"/>
            </p:custDataLst>
          </p:nvPr>
        </p:nvSpPr>
        <p:spPr>
          <a:xfrm>
            <a:off x="6496050" y="4529137"/>
            <a:ext cx="5695950" cy="285750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1650" b="1" i="0" u="none">
                <a:solidFill>
                  <a:srgbClr val="EA580C"/>
                </a:solidFill>
                <a:latin typeface="Noto Sans SC" panose="020B0200000000000000" charset="-122"/>
              </a:rPr>
              <a:t>2. 货架横梁标识（醒目黄色胶带）</a:t>
            </a:r>
            <a:endParaRPr sz="1650" b="1" i="0" u="none">
              <a:solidFill>
                <a:srgbClr val="EA580C"/>
              </a:solidFill>
              <a:latin typeface="Noto Sans SC" panose="020B0200000000000000" charset="-122"/>
            </a:endParaRPr>
          </a:p>
        </p:txBody>
      </p:sp>
      <p:sp>
        <p:nvSpPr>
          <p:cNvPr id="11" name="TextBox 10"/>
          <p:cNvSpPr txBox="1"/>
          <p:nvPr>
            <p:custDataLst>
              <p:tags r:id="rId10"/>
            </p:custDataLst>
          </p:nvPr>
        </p:nvSpPr>
        <p:spPr>
          <a:xfrm>
            <a:off x="6496050" y="4967287"/>
            <a:ext cx="4953000" cy="6858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350" b="0" i="0" u="none">
                <a:solidFill>
                  <a:srgbClr val="334155"/>
                </a:solidFill>
                <a:latin typeface="Noto Sans SC" panose="020B0200000000000000" charset="-122"/>
              </a:rPr>
              <a:t>前叉、车把等不装筐大件货架，直接在橙色横梁粘贴</a:t>
            </a:r>
            <a:r>
              <a:rPr sz="1350" b="1" i="0" u="none">
                <a:solidFill>
                  <a:srgbClr val="334155"/>
                </a:solidFill>
                <a:latin typeface="Noto Sans SC" panose="020B0200000000000000" charset="-122"/>
              </a:rPr>
              <a:t>黄色标识胶带</a:t>
            </a:r>
            <a:r>
              <a:rPr sz="1350" b="0" i="0" u="none">
                <a:solidFill>
                  <a:srgbClr val="334155"/>
                </a:solidFill>
                <a:latin typeface="Noto Sans SC" panose="020B0200000000000000" charset="-122"/>
              </a:rPr>
              <a:t>，清晰标明对应车型（如 S6、RAYO PRO、GALAXY、SOL、AGUILA）。</a:t>
            </a:r>
            <a:endParaRPr sz="1350" b="0" i="0" u="none">
              <a:solidFill>
                <a:srgbClr val="334155"/>
              </a:solidFill>
              <a:latin typeface="Noto Sans SC" panose="020B0200000000000000" charset="-122"/>
            </a:endParaRP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>
            <p:custDataLst>
              <p:tags r:id="rId1"/>
            </p:custDataLst>
          </p:nvPr>
        </p:nvSpPr>
        <p:spPr>
          <a:xfrm>
            <a:off x="6141690" y="1814512"/>
            <a:ext cx="5440709" cy="1219200"/>
          </a:xfrm>
          <a:prstGeom prst="roundRect">
            <a:avLst>
              <a:gd name="adj" fmla="val 9375"/>
            </a:avLst>
          </a:prstGeom>
          <a:solidFill>
            <a:srgbClr val="F8FA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>
            <p:custDataLst>
              <p:tags r:id="rId2"/>
            </p:custDataLst>
          </p:nvPr>
        </p:nvSpPr>
        <p:spPr>
          <a:xfrm>
            <a:off x="6141690" y="3262312"/>
            <a:ext cx="5440709" cy="1219200"/>
          </a:xfrm>
          <a:prstGeom prst="roundRect">
            <a:avLst>
              <a:gd name="adj" fmla="val 9375"/>
            </a:avLst>
          </a:prstGeom>
          <a:solidFill>
            <a:srgbClr val="F8FA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ounded Rectangle 3"/>
          <p:cNvSpPr/>
          <p:nvPr>
            <p:custDataLst>
              <p:tags r:id="rId3"/>
            </p:custDataLst>
          </p:nvPr>
        </p:nvSpPr>
        <p:spPr>
          <a:xfrm>
            <a:off x="6141690" y="4710112"/>
            <a:ext cx="5440709" cy="1219200"/>
          </a:xfrm>
          <a:prstGeom prst="roundRect">
            <a:avLst>
              <a:gd name="adj" fmla="val 9375"/>
            </a:avLst>
          </a:prstGeom>
          <a:solidFill>
            <a:srgbClr val="F8FA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5" name="Picture 4" descr="image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09600" y="1490662"/>
            <a:ext cx="5151090" cy="4762500"/>
          </a:xfrm>
          <a:prstGeom prst="rect">
            <a:avLst/>
          </a:prstGeom>
        </p:spPr>
      </p:pic>
      <p:pic>
        <p:nvPicPr>
          <p:cNvPr id="6" name="Picture 5" descr="image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723900" y="1604962"/>
            <a:ext cx="4922490" cy="4533900"/>
          </a:xfrm>
          <a:prstGeom prst="rect">
            <a:avLst/>
          </a:prstGeom>
        </p:spPr>
      </p:pic>
      <p:sp>
        <p:nvSpPr>
          <p:cNvPr id="7" name="TextBox 6"/>
          <p:cNvSpPr txBox="1"/>
          <p:nvPr/>
        </p:nvSpPr>
        <p:spPr>
          <a:xfrm>
            <a:off x="609600" y="457200"/>
            <a:ext cx="11582400" cy="161925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1125" b="1" i="0" u="none">
                <a:solidFill>
                  <a:srgbClr val="1D4ED8"/>
                </a:solidFill>
                <a:latin typeface="Noto Sans SC" panose="020B0200000000000000" charset="-122"/>
              </a:rPr>
              <a:t>PART 04 · INBOUND DOCUMENT SOP</a:t>
            </a:r>
            <a:endParaRPr sz="1125" b="1" i="0" u="none">
              <a:solidFill>
                <a:srgbClr val="1D4ED8"/>
              </a:solidFill>
              <a:latin typeface="Noto Sans SC" panose="020B0200000000000000" charset="-122"/>
            </a:endParaRPr>
          </a:p>
        </p:txBody>
      </p:sp>
      <p:sp>
        <p:nvSpPr>
          <p:cNvPr id="8" name="TextBox 7"/>
          <p:cNvSpPr txBox="1"/>
          <p:nvPr/>
        </p:nvSpPr>
        <p:spPr>
          <a:xfrm>
            <a:off x="609600" y="695325"/>
            <a:ext cx="11582400" cy="419100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2400" b="1" i="0" u="none">
                <a:solidFill>
                  <a:srgbClr val="0F172A"/>
                </a:solidFill>
                <a:latin typeface="Noto Sans SC" panose="020B0200000000000000" charset="-122"/>
              </a:rPr>
              <a:t>四、入库单据流程：三要素逐行核对与打钩验收</a:t>
            </a:r>
            <a:endParaRPr sz="2400" b="1" i="0" u="none">
              <a:solidFill>
                <a:srgbClr val="0F172A"/>
              </a:solidFill>
              <a:latin typeface="Noto Sans SC" panose="020B0200000000000000" charset="-122"/>
            </a:endParaRPr>
          </a:p>
        </p:txBody>
      </p:sp>
      <p:sp>
        <p:nvSpPr>
          <p:cNvPr id="9" name="TextBox 8"/>
          <p:cNvSpPr txBox="1"/>
          <p:nvPr>
            <p:custDataLst>
              <p:tags r:id="rId6"/>
            </p:custDataLst>
          </p:nvPr>
        </p:nvSpPr>
        <p:spPr>
          <a:xfrm>
            <a:off x="6370290" y="2024062"/>
            <a:ext cx="5821709" cy="266700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1575" b="1" i="0" u="none">
                <a:solidFill>
                  <a:srgbClr val="1D4ED8"/>
                </a:solidFill>
                <a:latin typeface="Noto Sans SC" panose="020B0200000000000000" charset="-122"/>
              </a:rPr>
              <a:t>1. 核对规格与实物缩略图</a:t>
            </a:r>
            <a:endParaRPr sz="1575" b="1" i="0" u="none">
              <a:solidFill>
                <a:srgbClr val="1D4ED8"/>
              </a:solidFill>
              <a:latin typeface="Noto Sans SC" panose="020B0200000000000000" charset="-122"/>
            </a:endParaRPr>
          </a:p>
        </p:txBody>
      </p:sp>
      <p:sp>
        <p:nvSpPr>
          <p:cNvPr id="10" name="TextBox 9"/>
          <p:cNvSpPr txBox="1"/>
          <p:nvPr>
            <p:custDataLst>
              <p:tags r:id="rId7"/>
            </p:custDataLst>
          </p:nvPr>
        </p:nvSpPr>
        <p:spPr>
          <a:xfrm>
            <a:off x="6370290" y="2366962"/>
            <a:ext cx="5078759" cy="207645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350" b="0" i="0" u="none">
                <a:solidFill>
                  <a:srgbClr val="334155"/>
                </a:solidFill>
                <a:latin typeface="Noto Sans SC" panose="020B0200000000000000" charset="-122"/>
              </a:rPr>
              <a:t>对照入库单上的中西双语品名、配件实拍缩略图及右侧颜色标注。</a:t>
            </a:r>
            <a:endParaRPr sz="1350" b="0" i="0" u="none">
              <a:solidFill>
                <a:srgbClr val="334155"/>
              </a:solidFill>
              <a:latin typeface="Noto Sans SC" panose="020B0200000000000000" charset="-122"/>
            </a:endParaRPr>
          </a:p>
        </p:txBody>
      </p:sp>
      <p:sp>
        <p:nvSpPr>
          <p:cNvPr id="11" name="TextBox 10"/>
          <p:cNvSpPr txBox="1"/>
          <p:nvPr>
            <p:custDataLst>
              <p:tags r:id="rId8"/>
            </p:custDataLst>
          </p:nvPr>
        </p:nvSpPr>
        <p:spPr>
          <a:xfrm>
            <a:off x="6370290" y="3471862"/>
            <a:ext cx="5821709" cy="266700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1575" b="1" i="0" u="none">
                <a:solidFill>
                  <a:srgbClr val="EA580C"/>
                </a:solidFill>
                <a:latin typeface="Noto Sans SC" panose="020B0200000000000000" charset="-122"/>
              </a:rPr>
              <a:t>2. 核对物料编码与适用车型</a:t>
            </a:r>
            <a:endParaRPr sz="1575" b="1" i="0" u="none">
              <a:solidFill>
                <a:srgbClr val="EA580C"/>
              </a:solidFill>
              <a:latin typeface="Noto Sans SC" panose="020B0200000000000000" charset="-122"/>
            </a:endParaRPr>
          </a:p>
        </p:txBody>
      </p:sp>
      <p:sp>
        <p:nvSpPr>
          <p:cNvPr id="12" name="TextBox 11"/>
          <p:cNvSpPr txBox="1"/>
          <p:nvPr>
            <p:custDataLst>
              <p:tags r:id="rId9"/>
            </p:custDataLst>
          </p:nvPr>
        </p:nvSpPr>
        <p:spPr>
          <a:xfrm>
            <a:off x="6370290" y="3814762"/>
            <a:ext cx="5078759" cy="4572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350" b="0" i="0" u="none">
                <a:solidFill>
                  <a:srgbClr val="334155"/>
                </a:solidFill>
                <a:latin typeface="Noto Sans SC" panose="020B0200000000000000" charset="-122"/>
              </a:rPr>
              <a:t>逐行查验料号（如 EM002041、EM001023）及对应车型（如 Family plus、Family Q、Golf plus）。</a:t>
            </a:r>
            <a:endParaRPr sz="1350" b="0" i="0" u="none">
              <a:solidFill>
                <a:srgbClr val="334155"/>
              </a:solidFill>
              <a:latin typeface="Noto Sans SC" panose="020B0200000000000000" charset="-122"/>
            </a:endParaRPr>
          </a:p>
        </p:txBody>
      </p:sp>
      <p:sp>
        <p:nvSpPr>
          <p:cNvPr id="13" name="TextBox 12"/>
          <p:cNvSpPr txBox="1"/>
          <p:nvPr>
            <p:custDataLst>
              <p:tags r:id="rId10"/>
            </p:custDataLst>
          </p:nvPr>
        </p:nvSpPr>
        <p:spPr>
          <a:xfrm>
            <a:off x="6370290" y="4919662"/>
            <a:ext cx="5821709" cy="266700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1575" b="1" i="0" u="none">
                <a:solidFill>
                  <a:srgbClr val="0F172A"/>
                </a:solidFill>
                <a:latin typeface="Noto Sans SC" panose="020B0200000000000000" charset="-122"/>
              </a:rPr>
              <a:t>3. 清点实数并标记打“✓”入库</a:t>
            </a:r>
            <a:endParaRPr sz="1575" b="1" i="0" u="none">
              <a:solidFill>
                <a:srgbClr val="0F172A"/>
              </a:solidFill>
              <a:latin typeface="Noto Sans SC" panose="020B0200000000000000" charset="-122"/>
            </a:endParaRPr>
          </a:p>
        </p:txBody>
      </p:sp>
      <p:sp>
        <p:nvSpPr>
          <p:cNvPr id="14" name="TextBox 13"/>
          <p:cNvSpPr txBox="1"/>
          <p:nvPr>
            <p:custDataLst>
              <p:tags r:id="rId11"/>
            </p:custDataLst>
          </p:nvPr>
        </p:nvSpPr>
        <p:spPr>
          <a:xfrm>
            <a:off x="6370290" y="5262562"/>
            <a:ext cx="5078759" cy="41529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350" b="0" i="0" u="none">
                <a:solidFill>
                  <a:srgbClr val="334155"/>
                </a:solidFill>
                <a:latin typeface="Noto Sans SC" panose="020B0200000000000000" charset="-122"/>
              </a:rPr>
              <a:t>点清实际到货数量，确认无误后使用荧光笔涂亮并在两侧逐行打“✓”，严禁未核盲目上架。</a:t>
            </a:r>
            <a:endParaRPr sz="1350" b="0" i="0" u="none">
              <a:solidFill>
                <a:srgbClr val="334155"/>
              </a:solidFill>
              <a:latin typeface="Noto Sans SC" panose="020B0200000000000000" charset="-122"/>
            </a:endParaRP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609600" y="2043112"/>
            <a:ext cx="5440709" cy="895350"/>
          </a:xfrm>
          <a:prstGeom prst="roundRect">
            <a:avLst>
              <a:gd name="adj" fmla="val 12765"/>
            </a:avLst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609600" y="3167062"/>
            <a:ext cx="5440709" cy="1152525"/>
          </a:xfrm>
          <a:prstGeom prst="roundRect">
            <a:avLst>
              <a:gd name="adj" fmla="val 9917"/>
            </a:avLst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ounded Rectangle 3"/>
          <p:cNvSpPr/>
          <p:nvPr/>
        </p:nvSpPr>
        <p:spPr>
          <a:xfrm>
            <a:off x="609600" y="4548187"/>
            <a:ext cx="5440709" cy="1152525"/>
          </a:xfrm>
          <a:prstGeom prst="roundRect">
            <a:avLst>
              <a:gd name="adj" fmla="val 9917"/>
            </a:avLst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5" name="Picture 4" descr="image.png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431309" y="1490662"/>
            <a:ext cx="5151090" cy="4762500"/>
          </a:xfrm>
          <a:prstGeom prst="rect">
            <a:avLst/>
          </a:prstGeom>
        </p:spPr>
      </p:pic>
      <p:pic>
        <p:nvPicPr>
          <p:cNvPr id="6" name="Picture 5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545609" y="1604962"/>
            <a:ext cx="4922490" cy="4533900"/>
          </a:xfrm>
          <a:prstGeom prst="rect">
            <a:avLst/>
          </a:prstGeom>
        </p:spPr>
      </p:pic>
      <p:sp>
        <p:nvSpPr>
          <p:cNvPr id="7" name="TextBox 6"/>
          <p:cNvSpPr txBox="1"/>
          <p:nvPr/>
        </p:nvSpPr>
        <p:spPr>
          <a:xfrm>
            <a:off x="609600" y="457200"/>
            <a:ext cx="11582400" cy="161925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1125" b="1" i="0" u="none">
                <a:solidFill>
                  <a:srgbClr val="EA580C"/>
                </a:solidFill>
                <a:latin typeface="Noto Sans SC" panose="020B0200000000000000" charset="-122"/>
              </a:rPr>
              <a:t>PART 04 · OUTBOUND DOCUMENT SOP</a:t>
            </a:r>
            <a:endParaRPr sz="1125" b="1" i="0" u="none">
              <a:solidFill>
                <a:srgbClr val="EA580C"/>
              </a:solidFill>
              <a:latin typeface="Noto Sans SC" panose="020B0200000000000000" charset="-122"/>
            </a:endParaRPr>
          </a:p>
        </p:txBody>
      </p:sp>
      <p:sp>
        <p:nvSpPr>
          <p:cNvPr id="8" name="TextBox 7"/>
          <p:cNvSpPr txBox="1"/>
          <p:nvPr/>
        </p:nvSpPr>
        <p:spPr>
          <a:xfrm>
            <a:off x="609600" y="695325"/>
            <a:ext cx="11582400" cy="419100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2400" b="1" i="0" u="none">
                <a:solidFill>
                  <a:srgbClr val="0F172A"/>
                </a:solidFill>
                <a:latin typeface="Noto Sans SC" panose="020B0200000000000000" charset="-122"/>
              </a:rPr>
              <a:t>四、出库单据流程：凭单发料与双方签字归档</a:t>
            </a:r>
            <a:endParaRPr sz="2400" b="1" i="0" u="none">
              <a:solidFill>
                <a:srgbClr val="0F172A"/>
              </a:solidFill>
              <a:latin typeface="Noto Sans SC" panose="020B0200000000000000" charset="-122"/>
            </a:endParaRPr>
          </a:p>
        </p:txBody>
      </p:sp>
      <p:sp>
        <p:nvSpPr>
          <p:cNvPr id="9" name="TextBox 8"/>
          <p:cNvSpPr txBox="1"/>
          <p:nvPr/>
        </p:nvSpPr>
        <p:spPr>
          <a:xfrm>
            <a:off x="838200" y="2233612"/>
            <a:ext cx="5078759" cy="51435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500" b="1" i="0" u="none">
                <a:solidFill>
                  <a:srgbClr val="1D4ED8"/>
                </a:solidFill>
                <a:latin typeface="Noto Sans SC" panose="020B0200000000000000" charset="-122"/>
              </a:rPr>
              <a:t>1. 凭正式出库单领料：</a:t>
            </a:r>
            <a:r>
              <a:rPr sz="1500" b="0" i="0" u="none">
                <a:solidFill>
                  <a:srgbClr val="1E293B"/>
                </a:solidFill>
                <a:latin typeface="Noto Sans SC" panose="020B0200000000000000" charset="-122"/>
              </a:rPr>
              <a:t>认准系统打印《Nota de entrega》交接单与销售单号（Orden de venta），严禁无单私拿。</a:t>
            </a:r>
            <a:endParaRPr sz="1500" b="0" i="0" u="none">
              <a:solidFill>
                <a:srgbClr val="1E293B"/>
              </a:solidFill>
              <a:latin typeface="Noto Sans SC" panose="020B0200000000000000" charset="-122"/>
            </a:endParaRPr>
          </a:p>
        </p:txBody>
      </p:sp>
      <p:sp>
        <p:nvSpPr>
          <p:cNvPr id="10" name="TextBox 9"/>
          <p:cNvSpPr txBox="1"/>
          <p:nvPr/>
        </p:nvSpPr>
        <p:spPr>
          <a:xfrm>
            <a:off x="838200" y="3357562"/>
            <a:ext cx="5078759" cy="771525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500" b="1" i="0" u="none">
                <a:solidFill>
                  <a:srgbClr val="EA580C"/>
                </a:solidFill>
                <a:latin typeface="Noto Sans SC" panose="020B0200000000000000" charset="-122"/>
              </a:rPr>
              <a:t>2. 图文与数量双复核：</a:t>
            </a:r>
            <a:r>
              <a:rPr sz="1500" b="0" i="0" u="none">
                <a:solidFill>
                  <a:srgbClr val="1E293B"/>
                </a:solidFill>
                <a:latin typeface="Noto Sans SC" panose="020B0200000000000000" charset="-122"/>
              </a:rPr>
              <a:t>拣货后二次核对配件名称（Producto）、缩略图、适用车型及实发数量（Entregado）。</a:t>
            </a:r>
            <a:endParaRPr sz="1500" b="0" i="0" u="none">
              <a:solidFill>
                <a:srgbClr val="1E293B"/>
              </a:solidFill>
              <a:latin typeface="Noto Sans SC" panose="020B0200000000000000" charset="-122"/>
            </a:endParaRPr>
          </a:p>
        </p:txBody>
      </p:sp>
      <p:sp>
        <p:nvSpPr>
          <p:cNvPr id="11" name="TextBox 10"/>
          <p:cNvSpPr txBox="1"/>
          <p:nvPr/>
        </p:nvSpPr>
        <p:spPr>
          <a:xfrm>
            <a:off x="838200" y="4738687"/>
            <a:ext cx="5078759" cy="771525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500" b="1" i="0" u="none">
                <a:solidFill>
                  <a:srgbClr val="0F172A"/>
                </a:solidFill>
                <a:latin typeface="Noto Sans SC" panose="020B0200000000000000" charset="-122"/>
              </a:rPr>
              <a:t>3. 双方签章留存可追溯：</a:t>
            </a:r>
            <a:r>
              <a:rPr sz="1500" b="0" i="0" u="none">
                <a:solidFill>
                  <a:srgbClr val="1E293B"/>
                </a:solidFill>
                <a:latin typeface="Noto Sans SC" panose="020B0200000000000000" charset="-122"/>
              </a:rPr>
              <a:t>发货方（Sello de fábrica）与领用门店/客户（Firma del cliente）当面签字确认，单据归档留存。</a:t>
            </a:r>
            <a:endParaRPr sz="1500" b="0" i="0" u="none">
              <a:solidFill>
                <a:srgbClr val="1E293B"/>
              </a:solidFill>
              <a:latin typeface="Noto Sans SC" panose="020B0200000000000000" charset="-122"/>
            </a:endParaRP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609600" y="4086225"/>
            <a:ext cx="10972800" cy="2314575"/>
          </a:xfrm>
          <a:prstGeom prst="roundRect">
            <a:avLst>
              <a:gd name="adj" fmla="val 4938"/>
            </a:avLst>
          </a:prstGeom>
          <a:solidFill>
            <a:srgbClr val="0F17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609600" y="1343025"/>
            <a:ext cx="3285083" cy="1552575"/>
          </a:xfrm>
          <a:prstGeom prst="roundRect">
            <a:avLst>
              <a:gd name="adj" fmla="val 7361"/>
            </a:avLst>
          </a:prstGeom>
          <a:solidFill>
            <a:srgbClr val="F8FA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ounded Rectangle 3"/>
          <p:cNvSpPr/>
          <p:nvPr/>
        </p:nvSpPr>
        <p:spPr>
          <a:xfrm>
            <a:off x="4453532" y="1457325"/>
            <a:ext cx="3285083" cy="1323975"/>
          </a:xfrm>
          <a:prstGeom prst="roundRect">
            <a:avLst>
              <a:gd name="adj" fmla="val 8633"/>
            </a:avLst>
          </a:prstGeom>
          <a:solidFill>
            <a:srgbClr val="F8FA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8297465" y="1343025"/>
            <a:ext cx="3285083" cy="1552575"/>
          </a:xfrm>
          <a:prstGeom prst="roundRect">
            <a:avLst>
              <a:gd name="adj" fmla="val 7361"/>
            </a:avLst>
          </a:prstGeom>
          <a:solidFill>
            <a:srgbClr val="F8FA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6" name="Picture 5" descr="image.png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4085183" y="2005012"/>
            <a:ext cx="177849" cy="228600"/>
          </a:xfrm>
          <a:prstGeom prst="rect">
            <a:avLst/>
          </a:prstGeom>
        </p:spPr>
      </p:pic>
      <p:pic>
        <p:nvPicPr>
          <p:cNvPr id="7" name="Picture 6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929116" y="2005012"/>
            <a:ext cx="177849" cy="228600"/>
          </a:xfrm>
          <a:prstGeom prst="rect">
            <a:avLst/>
          </a:prstGeom>
        </p:spPr>
      </p:pic>
      <p:sp>
        <p:nvSpPr>
          <p:cNvPr id="8" name="Rounded Rectangle 7"/>
          <p:cNvSpPr/>
          <p:nvPr/>
        </p:nvSpPr>
        <p:spPr>
          <a:xfrm>
            <a:off x="914400" y="4762500"/>
            <a:ext cx="10363200" cy="1371600"/>
          </a:xfrm>
          <a:prstGeom prst="roundRect">
            <a:avLst>
              <a:gd name="adj" fmla="val 0"/>
            </a:avLst>
          </a:prstGeom>
          <a:solidFill>
            <a:srgbClr val="1E293B"/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graphicFrame>
        <p:nvGraphicFramePr>
          <p:cNvPr id="9" name="Table 8"/>
          <p:cNvGraphicFramePr>
            <a:graphicFrameLocks noGrp="1"/>
          </p:cNvGraphicFramePr>
          <p:nvPr/>
        </p:nvGraphicFramePr>
        <p:xfrm>
          <a:off x="914400" y="4762500"/>
          <a:ext cx="10363197" cy="1371600"/>
        </p:xfrm>
        <a:graphic>
          <a:graphicData uri="http://schemas.openxmlformats.org/drawingml/2006/table">
            <a:tbl>
              <a:tblPr/>
              <a:tblGrid>
                <a:gridCol w="1649462"/>
                <a:gridCol w="2137320"/>
                <a:gridCol w="1923305"/>
                <a:gridCol w="1858267"/>
                <a:gridCol w="2794843"/>
              </a:tblGrid>
              <a:tr h="457200">
                <a:tc>
                  <a:txBody>
                    <a:bodyPr/>
                    <a:lstStyle/>
                    <a:p>
                      <a:pPr algn="l"/>
                      <a:r>
                        <a:rPr sz="1275" b="1" i="0" u="none">
                          <a:solidFill>
                            <a:srgbClr val="FFFFFF"/>
                          </a:solidFill>
                          <a:latin typeface="Noto Sans SC" panose="020B0200000000000000" charset="-122"/>
                        </a:rPr>
                        <a:t>日期</a:t>
                      </a:r>
                      <a:endParaRPr sz="1275" b="1" i="0" u="none">
                        <a:solidFill>
                          <a:srgbClr val="FFFFFF"/>
                        </a:solidFill>
                        <a:latin typeface="Noto Sans SC" panose="020B0200000000000000" charset="-122"/>
                      </a:endParaRPr>
                    </a:p>
                  </a:txBody>
                  <a:tcPr marL="63500" marR="63500" marT="25400" marB="254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334155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275" b="1" i="0" u="none">
                          <a:solidFill>
                            <a:srgbClr val="FFFFFF"/>
                          </a:solidFill>
                          <a:latin typeface="Noto Sans SC" panose="020B0200000000000000" charset="-122"/>
                        </a:rPr>
                        <a:t>作业类型</a:t>
                      </a:r>
                      <a:endParaRPr sz="1275" b="1" i="0" u="none">
                        <a:solidFill>
                          <a:srgbClr val="FFFFFF"/>
                        </a:solidFill>
                        <a:latin typeface="Noto Sans SC" panose="020B0200000000000000" charset="-122"/>
                      </a:endParaRPr>
                    </a:p>
                  </a:txBody>
                  <a:tcPr marL="63500" marR="63500" marT="25400" marB="254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334155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275" b="1" i="0" u="none">
                          <a:solidFill>
                            <a:srgbClr val="FFFFFF"/>
                          </a:solidFill>
                          <a:latin typeface="Noto Sans SC" panose="020B0200000000000000" charset="-122"/>
                        </a:rPr>
                        <a:t>入库数量 (+)</a:t>
                      </a:r>
                      <a:endParaRPr sz="1275" b="1" i="0" u="none">
                        <a:solidFill>
                          <a:srgbClr val="FFFFFF"/>
                        </a:solidFill>
                        <a:latin typeface="Noto Sans SC" panose="020B0200000000000000" charset="-122"/>
                      </a:endParaRPr>
                    </a:p>
                  </a:txBody>
                  <a:tcPr marL="63500" marR="63500" marT="25400" marB="254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334155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275" b="1" i="0" u="none">
                          <a:solidFill>
                            <a:srgbClr val="FFFFFF"/>
                          </a:solidFill>
                          <a:latin typeface="Noto Sans SC" panose="020B0200000000000000" charset="-122"/>
                        </a:rPr>
                        <a:t>领用出库 (-)</a:t>
                      </a:r>
                      <a:endParaRPr sz="1275" b="1" i="0" u="none">
                        <a:solidFill>
                          <a:srgbClr val="FFFFFF"/>
                        </a:solidFill>
                        <a:latin typeface="Noto Sans SC" panose="020B0200000000000000" charset="-122"/>
                      </a:endParaRPr>
                    </a:p>
                  </a:txBody>
                  <a:tcPr marL="63500" marR="63500" marT="25400" marB="254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334155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275" b="1" i="0" u="none">
                          <a:solidFill>
                            <a:srgbClr val="F59E0B"/>
                          </a:solidFill>
                          <a:latin typeface="Noto Sans SC" panose="020B0200000000000000" charset="-122"/>
                        </a:rPr>
                        <a:t>当前结余 (=)</a:t>
                      </a:r>
                      <a:endParaRPr sz="1275" b="1" i="0" u="none">
                        <a:solidFill>
                          <a:srgbClr val="F59E0B"/>
                        </a:solidFill>
                        <a:latin typeface="Noto Sans SC" panose="020B0200000000000000" charset="-122"/>
                      </a:endParaRPr>
                    </a:p>
                  </a:txBody>
                  <a:tcPr marL="63500" marR="63500" marT="25400" marB="254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334155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algn="l"/>
                      <a:r>
                        <a:rPr sz="1350" b="0" i="0" u="none">
                          <a:solidFill>
                            <a:srgbClr val="F8FAFC"/>
                          </a:solidFill>
                          <a:latin typeface="Noto Sans SC" panose="020B0200000000000000" charset="-122"/>
                        </a:rPr>
                        <a:t>10月15日</a:t>
                      </a:r>
                      <a:endParaRPr sz="1350" b="0" i="0" u="none">
                        <a:solidFill>
                          <a:srgbClr val="F8FAFC"/>
                        </a:solidFill>
                        <a:latin typeface="Noto Sans SC" panose="020B0200000000000000" charset="-122"/>
                      </a:endParaRPr>
                    </a:p>
                  </a:txBody>
                  <a:tcPr marL="63500" marR="63500" marT="25400" marB="254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1E293B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350" b="0" i="0" u="none">
                          <a:solidFill>
                            <a:srgbClr val="F8FAFC"/>
                          </a:solidFill>
                          <a:latin typeface="Noto Sans SC" panose="020B0200000000000000" charset="-122"/>
                        </a:rPr>
                        <a:t>总厂发来入库</a:t>
                      </a:r>
                      <a:endParaRPr sz="1350" b="0" i="0" u="none">
                        <a:solidFill>
                          <a:srgbClr val="F8FAFC"/>
                        </a:solidFill>
                        <a:latin typeface="Noto Sans SC" panose="020B0200000000000000" charset="-122"/>
                      </a:endParaRPr>
                    </a:p>
                  </a:txBody>
                  <a:tcPr marL="63500" marR="63500" marT="25400" marB="254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1E293B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350" b="1" i="0" u="none">
                          <a:solidFill>
                            <a:srgbClr val="4ADE80"/>
                          </a:solidFill>
                          <a:latin typeface="Noto Sans SC" panose="020B0200000000000000" charset="-122"/>
                        </a:rPr>
                        <a:t>+ 30 个</a:t>
                      </a:r>
                      <a:endParaRPr sz="1350" b="1" i="0" u="none">
                        <a:solidFill>
                          <a:srgbClr val="4ADE80"/>
                        </a:solidFill>
                        <a:latin typeface="Noto Sans SC" panose="020B0200000000000000" charset="-122"/>
                      </a:endParaRPr>
                    </a:p>
                  </a:txBody>
                  <a:tcPr marL="63500" marR="63500" marT="25400" marB="254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1E293B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350" b="0" i="0" u="none">
                          <a:solidFill>
                            <a:srgbClr val="F8FAFC"/>
                          </a:solidFill>
                          <a:latin typeface="Noto Sans SC" panose="020B0200000000000000" charset="-122"/>
                        </a:rPr>
                        <a:t>—</a:t>
                      </a:r>
                      <a:endParaRPr sz="1350" b="0" i="0" u="none">
                        <a:solidFill>
                          <a:srgbClr val="F8FAFC"/>
                        </a:solidFill>
                        <a:latin typeface="Noto Sans SC" panose="020B0200000000000000" charset="-122"/>
                      </a:endParaRPr>
                    </a:p>
                  </a:txBody>
                  <a:tcPr marL="63500" marR="63500" marT="25400" marB="254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1E293B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350" b="1" i="0" u="none">
                          <a:solidFill>
                            <a:srgbClr val="F59E0B"/>
                          </a:solidFill>
                          <a:latin typeface="Noto Sans SC" panose="020B0200000000000000" charset="-122"/>
                        </a:rPr>
                        <a:t>30 个</a:t>
                      </a:r>
                      <a:endParaRPr sz="1350" b="1" i="0" u="none">
                        <a:solidFill>
                          <a:srgbClr val="F59E0B"/>
                        </a:solidFill>
                        <a:latin typeface="Noto Sans SC" panose="020B0200000000000000" charset="-122"/>
                      </a:endParaRPr>
                    </a:p>
                  </a:txBody>
                  <a:tcPr marL="63500" marR="63500" marT="25400" marB="254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1E293B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algn="l"/>
                      <a:r>
                        <a:rPr sz="1350" b="0" i="0" u="none">
                          <a:solidFill>
                            <a:srgbClr val="F8FAFC"/>
                          </a:solidFill>
                          <a:latin typeface="Noto Sans SC" panose="020B0200000000000000" charset="-122"/>
                        </a:rPr>
                        <a:t>10月18日</a:t>
                      </a:r>
                      <a:endParaRPr sz="1350" b="0" i="0" u="none">
                        <a:solidFill>
                          <a:srgbClr val="F8FAFC"/>
                        </a:solidFill>
                        <a:latin typeface="Noto Sans SC" panose="020B0200000000000000" charset="-122"/>
                      </a:endParaRPr>
                    </a:p>
                  </a:txBody>
                  <a:tcPr marL="63500" marR="63500" marT="25400" marB="254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1E293B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350" b="0" i="0" u="none">
                          <a:solidFill>
                            <a:srgbClr val="F8FAFC"/>
                          </a:solidFill>
                          <a:latin typeface="Noto Sans SC" panose="020B0200000000000000" charset="-122"/>
                        </a:rPr>
                        <a:t>门店售后领用</a:t>
                      </a:r>
                      <a:endParaRPr sz="1350" b="0" i="0" u="none">
                        <a:solidFill>
                          <a:srgbClr val="F8FAFC"/>
                        </a:solidFill>
                        <a:latin typeface="Noto Sans SC" panose="020B0200000000000000" charset="-122"/>
                      </a:endParaRPr>
                    </a:p>
                  </a:txBody>
                  <a:tcPr marL="63500" marR="63500" marT="25400" marB="254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1E293B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350" b="0" i="0" u="none">
                          <a:solidFill>
                            <a:srgbClr val="F8FAFC"/>
                          </a:solidFill>
                          <a:latin typeface="Noto Sans SC" panose="020B0200000000000000" charset="-122"/>
                        </a:rPr>
                        <a:t>—</a:t>
                      </a:r>
                      <a:endParaRPr sz="1350" b="0" i="0" u="none">
                        <a:solidFill>
                          <a:srgbClr val="F8FAFC"/>
                        </a:solidFill>
                        <a:latin typeface="Noto Sans SC" panose="020B0200000000000000" charset="-122"/>
                      </a:endParaRPr>
                    </a:p>
                  </a:txBody>
                  <a:tcPr marL="63500" marR="63500" marT="25400" marB="254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1E293B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350" b="1" i="0" u="none">
                          <a:solidFill>
                            <a:srgbClr val="F87171"/>
                          </a:solidFill>
                          <a:latin typeface="Noto Sans SC" panose="020B0200000000000000" charset="-122"/>
                        </a:rPr>
                        <a:t>- 4 个</a:t>
                      </a:r>
                      <a:endParaRPr sz="1350" b="1" i="0" u="none">
                        <a:solidFill>
                          <a:srgbClr val="F87171"/>
                        </a:solidFill>
                        <a:latin typeface="Noto Sans SC" panose="020B0200000000000000" charset="-122"/>
                      </a:endParaRPr>
                    </a:p>
                  </a:txBody>
                  <a:tcPr marL="63500" marR="63500" marT="25400" marB="254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1E293B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350" b="1" i="0" u="none">
                          <a:solidFill>
                            <a:srgbClr val="F59E0B"/>
                          </a:solidFill>
                          <a:latin typeface="Noto Sans SC" panose="020B0200000000000000" charset="-122"/>
                        </a:rPr>
                        <a:t>26 个（一眼核查）</a:t>
                      </a:r>
                      <a:endParaRPr sz="1350" b="1" i="0" u="none">
                        <a:solidFill>
                          <a:srgbClr val="F59E0B"/>
                        </a:solidFill>
                        <a:latin typeface="Noto Sans SC" panose="020B0200000000000000" charset="-122"/>
                      </a:endParaRPr>
                    </a:p>
                  </a:txBody>
                  <a:tcPr marL="63500" marR="63500" marT="25400" marB="254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1E293B"/>
                    </a:solidFill>
                  </a:tcPr>
                </a:tc>
              </a:tr>
            </a:tbl>
          </a:graphicData>
        </a:graphic>
      </p:graphicFrame>
      <p:sp>
        <p:nvSpPr>
          <p:cNvPr id="10" name="TextBox 9"/>
          <p:cNvSpPr txBox="1"/>
          <p:nvPr/>
        </p:nvSpPr>
        <p:spPr>
          <a:xfrm>
            <a:off x="609600" y="457200"/>
            <a:ext cx="11582400" cy="161925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1125" b="1" i="0" u="none">
                <a:solidFill>
                  <a:srgbClr val="1D4ED8"/>
                </a:solidFill>
                <a:latin typeface="Noto Sans SC" panose="020B0200000000000000" charset="-122"/>
              </a:rPr>
              <a:t>PART 04 · SOP &amp; DYNAMIC INVENTORY CARD</a:t>
            </a:r>
            <a:endParaRPr sz="1125" b="1" i="0" u="none">
              <a:solidFill>
                <a:srgbClr val="1D4ED8"/>
              </a:solidFill>
              <a:latin typeface="Noto Sans SC" panose="020B0200000000000000" charset="-122"/>
            </a:endParaRPr>
          </a:p>
        </p:txBody>
      </p:sp>
      <p:sp>
        <p:nvSpPr>
          <p:cNvPr id="11" name="TextBox 10"/>
          <p:cNvSpPr txBox="1"/>
          <p:nvPr/>
        </p:nvSpPr>
        <p:spPr>
          <a:xfrm>
            <a:off x="609600" y="695325"/>
            <a:ext cx="11582400" cy="419100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2400" b="1" i="0" u="none">
                <a:solidFill>
                  <a:srgbClr val="0F172A"/>
                </a:solidFill>
                <a:latin typeface="Noto Sans SC" panose="020B0200000000000000" charset="-122"/>
              </a:rPr>
              <a:t>四、出入库标准流程（SOP）与“物料增减卡”管控</a:t>
            </a:r>
            <a:endParaRPr sz="2400" b="1" i="0" u="none">
              <a:solidFill>
                <a:srgbClr val="0F172A"/>
              </a:solidFill>
              <a:latin typeface="Noto Sans SC" panose="020B0200000000000000" charset="-122"/>
            </a:endParaRPr>
          </a:p>
        </p:txBody>
      </p:sp>
      <p:sp>
        <p:nvSpPr>
          <p:cNvPr id="12" name="TextBox 11"/>
          <p:cNvSpPr txBox="1"/>
          <p:nvPr/>
        </p:nvSpPr>
        <p:spPr>
          <a:xfrm>
            <a:off x="838200" y="1571625"/>
            <a:ext cx="3534854" cy="200025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1200" b="1" i="0" u="none">
                <a:solidFill>
                  <a:srgbClr val="1D4ED8"/>
                </a:solidFill>
                <a:latin typeface="Noto Sans SC" panose="020B0200000000000000" charset="-122"/>
              </a:rPr>
              <a:t>STEP 01 · 严把收货关</a:t>
            </a:r>
            <a:endParaRPr sz="1200" b="1" i="0" u="none">
              <a:solidFill>
                <a:srgbClr val="1D4ED8"/>
              </a:solidFill>
              <a:latin typeface="Noto Sans SC" panose="020B0200000000000000" charset="-122"/>
            </a:endParaRPr>
          </a:p>
        </p:txBody>
      </p:sp>
      <p:sp>
        <p:nvSpPr>
          <p:cNvPr id="13" name="TextBox 12"/>
          <p:cNvSpPr txBox="1"/>
          <p:nvPr/>
        </p:nvSpPr>
        <p:spPr>
          <a:xfrm>
            <a:off x="838200" y="1847850"/>
            <a:ext cx="3711596" cy="285750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1650" b="1" i="0" u="none">
                <a:solidFill>
                  <a:srgbClr val="0F172A"/>
                </a:solidFill>
                <a:latin typeface="Noto Sans SC" panose="020B0200000000000000" charset="-122"/>
              </a:rPr>
              <a:t>入库三核对</a:t>
            </a:r>
            <a:endParaRPr sz="1650" b="1" i="0" u="none">
              <a:solidFill>
                <a:srgbClr val="0F172A"/>
              </a:solidFill>
              <a:latin typeface="Noto Sans SC" panose="020B0200000000000000" charset="-122"/>
            </a:endParaRPr>
          </a:p>
        </p:txBody>
      </p:sp>
      <p:sp>
        <p:nvSpPr>
          <p:cNvPr id="14" name="TextBox 13"/>
          <p:cNvSpPr txBox="1"/>
          <p:nvPr/>
        </p:nvSpPr>
        <p:spPr>
          <a:xfrm>
            <a:off x="838200" y="2209800"/>
            <a:ext cx="2923133" cy="4572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350" b="0" i="0" u="none">
                <a:solidFill>
                  <a:srgbClr val="334155"/>
                </a:solidFill>
                <a:latin typeface="Noto Sans SC" panose="020B0200000000000000" charset="-122"/>
              </a:rPr>
              <a:t>依次核对规格、核对料号、核对实际数量</a:t>
            </a:r>
            <a:endParaRPr sz="1350" b="0" i="0" u="none">
              <a:solidFill>
                <a:srgbClr val="334155"/>
              </a:solidFill>
              <a:latin typeface="Noto Sans SC" panose="020B0200000000000000" charset="-122"/>
            </a:endParaRPr>
          </a:p>
        </p:txBody>
      </p:sp>
      <p:sp>
        <p:nvSpPr>
          <p:cNvPr id="15" name="TextBox 14"/>
          <p:cNvSpPr txBox="1"/>
          <p:nvPr/>
        </p:nvSpPr>
        <p:spPr>
          <a:xfrm>
            <a:off x="4682132" y="1685925"/>
            <a:ext cx="3534854" cy="200025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1200" b="1" i="0" u="none">
                <a:solidFill>
                  <a:srgbClr val="EA580C"/>
                </a:solidFill>
                <a:latin typeface="Noto Sans SC" panose="020B0200000000000000" charset="-122"/>
              </a:rPr>
              <a:t>STEP 02 · 杜绝乱塞混放</a:t>
            </a:r>
            <a:endParaRPr sz="1200" b="1" i="0" u="none">
              <a:solidFill>
                <a:srgbClr val="EA580C"/>
              </a:solidFill>
              <a:latin typeface="Noto Sans SC" panose="020B0200000000000000" charset="-122"/>
            </a:endParaRPr>
          </a:p>
        </p:txBody>
      </p:sp>
      <p:sp>
        <p:nvSpPr>
          <p:cNvPr id="16" name="TextBox 15"/>
          <p:cNvSpPr txBox="1"/>
          <p:nvPr/>
        </p:nvSpPr>
        <p:spPr>
          <a:xfrm>
            <a:off x="4682132" y="1962150"/>
            <a:ext cx="3711596" cy="285750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1650" b="1" i="0" u="none">
                <a:solidFill>
                  <a:srgbClr val="0F172A"/>
                </a:solidFill>
                <a:latin typeface="Noto Sans SC" panose="020B0200000000000000" charset="-122"/>
              </a:rPr>
              <a:t>定置定位上架</a:t>
            </a:r>
            <a:endParaRPr sz="1650" b="1" i="0" u="none">
              <a:solidFill>
                <a:srgbClr val="0F172A"/>
              </a:solidFill>
              <a:latin typeface="Noto Sans SC" panose="020B0200000000000000" charset="-122"/>
            </a:endParaRPr>
          </a:p>
        </p:txBody>
      </p:sp>
      <p:sp>
        <p:nvSpPr>
          <p:cNvPr id="17" name="TextBox 16"/>
          <p:cNvSpPr txBox="1"/>
          <p:nvPr/>
        </p:nvSpPr>
        <p:spPr>
          <a:xfrm>
            <a:off x="4682132" y="2324100"/>
            <a:ext cx="3534854" cy="228600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1350" b="0" i="0" u="none">
                <a:solidFill>
                  <a:srgbClr val="334155"/>
                </a:solidFill>
                <a:latin typeface="Noto Sans SC" panose="020B0200000000000000" charset="-122"/>
              </a:rPr>
              <a:t>按四大分区及专属车型库位精准归位</a:t>
            </a:r>
            <a:endParaRPr sz="1350" b="0" i="0" u="none">
              <a:solidFill>
                <a:srgbClr val="334155"/>
              </a:solidFill>
              <a:latin typeface="Noto Sans SC" panose="020B0200000000000000" charset="-122"/>
            </a:endParaRPr>
          </a:p>
        </p:txBody>
      </p:sp>
      <p:sp>
        <p:nvSpPr>
          <p:cNvPr id="18" name="TextBox 17"/>
          <p:cNvSpPr txBox="1"/>
          <p:nvPr/>
        </p:nvSpPr>
        <p:spPr>
          <a:xfrm>
            <a:off x="8526065" y="1571625"/>
            <a:ext cx="3534854" cy="200025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1200" b="1" i="0" u="none">
                <a:solidFill>
                  <a:srgbClr val="1D4ED8"/>
                </a:solidFill>
                <a:latin typeface="Noto Sans SC" panose="020B0200000000000000" charset="-122"/>
              </a:rPr>
              <a:t>STEP 03 · 动态盘点制度</a:t>
            </a:r>
            <a:endParaRPr sz="1200" b="1" i="0" u="none">
              <a:solidFill>
                <a:srgbClr val="1D4ED8"/>
              </a:solidFill>
              <a:latin typeface="Noto Sans SC" panose="020B0200000000000000" charset="-122"/>
            </a:endParaRPr>
          </a:p>
        </p:txBody>
      </p:sp>
      <p:sp>
        <p:nvSpPr>
          <p:cNvPr id="19" name="TextBox 18"/>
          <p:cNvSpPr txBox="1"/>
          <p:nvPr/>
        </p:nvSpPr>
        <p:spPr>
          <a:xfrm>
            <a:off x="8526065" y="1847850"/>
            <a:ext cx="3665934" cy="285750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1650" b="1" i="0" u="none">
                <a:solidFill>
                  <a:srgbClr val="0F172A"/>
                </a:solidFill>
                <a:latin typeface="Noto Sans SC" panose="020B0200000000000000" charset="-122"/>
              </a:rPr>
              <a:t>悬挂物料增减卡</a:t>
            </a:r>
            <a:endParaRPr sz="1650" b="1" i="0" u="none">
              <a:solidFill>
                <a:srgbClr val="0F172A"/>
              </a:solidFill>
              <a:latin typeface="Noto Sans SC" panose="020B0200000000000000" charset="-122"/>
            </a:endParaRPr>
          </a:p>
        </p:txBody>
      </p:sp>
      <p:sp>
        <p:nvSpPr>
          <p:cNvPr id="20" name="TextBox 19"/>
          <p:cNvSpPr txBox="1"/>
          <p:nvPr/>
        </p:nvSpPr>
        <p:spPr>
          <a:xfrm>
            <a:off x="8526065" y="2209800"/>
            <a:ext cx="2923133" cy="4572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350" b="0" i="0" u="none">
                <a:solidFill>
                  <a:srgbClr val="334155"/>
                </a:solidFill>
                <a:latin typeface="Noto Sans SC" panose="020B0200000000000000" charset="-122"/>
              </a:rPr>
              <a:t>来货做加法、领用做减法，实时掌握结余</a:t>
            </a:r>
            <a:endParaRPr sz="1350" b="0" i="0" u="none">
              <a:solidFill>
                <a:srgbClr val="334155"/>
              </a:solidFill>
              <a:latin typeface="Noto Sans SC" panose="020B0200000000000000" charset="-122"/>
            </a:endParaRPr>
          </a:p>
        </p:txBody>
      </p:sp>
      <p:sp>
        <p:nvSpPr>
          <p:cNvPr id="21" name="TextBox 20"/>
          <p:cNvSpPr txBox="1"/>
          <p:nvPr/>
        </p:nvSpPr>
        <p:spPr>
          <a:xfrm>
            <a:off x="914400" y="4352925"/>
            <a:ext cx="5750718" cy="257175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1500" b="1" i="0" u="none">
                <a:solidFill>
                  <a:srgbClr val="F59E0B"/>
                </a:solidFill>
                <a:latin typeface="Noto Sans SC" panose="020B0200000000000000" charset="-122"/>
              </a:rPr>
              <a:t>标准“物料增减卡”实时登记示例（免翻箱盲盘核查）</a:t>
            </a:r>
            <a:endParaRPr sz="1500" b="1" i="0" u="none">
              <a:solidFill>
                <a:srgbClr val="F59E0B"/>
              </a:solidFill>
              <a:latin typeface="Noto Sans SC" panose="020B0200000000000000" charset="-122"/>
            </a:endParaRPr>
          </a:p>
        </p:txBody>
      </p:sp>
      <p:sp>
        <p:nvSpPr>
          <p:cNvPr id="22" name="TextBox 21"/>
          <p:cNvSpPr txBox="1"/>
          <p:nvPr/>
        </p:nvSpPr>
        <p:spPr>
          <a:xfrm>
            <a:off x="6154340" y="4381500"/>
            <a:ext cx="6037659" cy="200025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1200" b="0" i="0" u="none">
                <a:solidFill>
                  <a:srgbClr val="CBD5E1"/>
                </a:solidFill>
                <a:latin typeface="Noto Sans SC" panose="020B0200000000000000" charset="-122"/>
              </a:rPr>
              <a:t>库位：A区-02架 · 料号：EM081006 · 名称：ACELERADOR 转把 (MANGO)</a:t>
            </a:r>
            <a:endParaRPr sz="1200" b="0" i="0" u="none">
              <a:solidFill>
                <a:srgbClr val="CBD5E1"/>
              </a:solidFill>
              <a:latin typeface="Noto Sans SC" panose="020B0200000000000000" charset="-122"/>
            </a:endParaRP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952500" y="2847975"/>
            <a:ext cx="4991100" cy="1847850"/>
          </a:xfrm>
          <a:prstGeom prst="roundRect">
            <a:avLst>
              <a:gd name="adj" fmla="val 6185"/>
            </a:avLst>
          </a:prstGeom>
          <a:solidFill>
            <a:srgbClr val="1E293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6248400" y="2847975"/>
            <a:ext cx="4991100" cy="1847850"/>
          </a:xfrm>
          <a:prstGeom prst="roundRect">
            <a:avLst>
              <a:gd name="adj" fmla="val 6185"/>
            </a:avLst>
          </a:prstGeom>
          <a:solidFill>
            <a:srgbClr val="1E293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2576791" y="1590675"/>
            <a:ext cx="7038268" cy="200025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ctr"/>
            <a:r>
              <a:rPr sz="1200" b="1" i="0" u="none">
                <a:solidFill>
                  <a:srgbClr val="F59E0B"/>
                </a:solidFill>
                <a:latin typeface="Noto Sans SC" panose="020B0200000000000000" charset="-122"/>
              </a:rPr>
              <a:t>EVOBIKE WAREHOUSE GOLDEN RULES · 建议打印张贴于仓库入口</a:t>
            </a:r>
            <a:endParaRPr sz="1200" b="1" i="0" u="none">
              <a:solidFill>
                <a:srgbClr val="F59E0B"/>
              </a:solidFill>
              <a:latin typeface="Noto Sans SC" panose="020B0200000000000000" charset="-122"/>
            </a:endParaRPr>
          </a:p>
        </p:txBody>
      </p:sp>
      <p:sp>
        <p:nvSpPr>
          <p:cNvPr id="5" name="TextBox 4"/>
          <p:cNvSpPr txBox="1"/>
          <p:nvPr/>
        </p:nvSpPr>
        <p:spPr>
          <a:xfrm>
            <a:off x="2317230" y="1943100"/>
            <a:ext cx="7557389" cy="523875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ctr"/>
            <a:r>
              <a:rPr sz="3000" b="1" i="0" u="none">
                <a:solidFill>
                  <a:srgbClr val="FFFFFF"/>
                </a:solidFill>
                <a:latin typeface="Noto Sans SC" panose="020B0200000000000000" charset="-122"/>
              </a:rPr>
              <a:t>Evobike 仓库标准化管理六条口诀</a:t>
            </a:r>
            <a:endParaRPr sz="3000" b="1" i="0" u="none">
              <a:solidFill>
                <a:srgbClr val="FFFFFF"/>
              </a:solidFill>
              <a:latin typeface="Noto Sans SC" panose="020B0200000000000000" charset="-122"/>
            </a:endParaRPr>
          </a:p>
        </p:txBody>
      </p:sp>
      <p:sp>
        <p:nvSpPr>
          <p:cNvPr id="6" name="TextBox 5"/>
          <p:cNvSpPr txBox="1"/>
          <p:nvPr/>
        </p:nvSpPr>
        <p:spPr>
          <a:xfrm>
            <a:off x="3941370" y="5038725"/>
            <a:ext cx="4309110" cy="207645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ctr"/>
            <a:r>
              <a:rPr sz="1350" b="0" i="0" u="none">
                <a:solidFill>
                  <a:srgbClr val="94A3B8"/>
                </a:solidFill>
                <a:latin typeface="Noto Sans SC" panose="020B0200000000000000" charset="-122"/>
              </a:rPr>
              <a:t>Evobike </a:t>
            </a:r>
            <a:r>
              <a:rPr lang="zh-CN" sz="1350" b="0" i="0" u="none">
                <a:solidFill>
                  <a:srgbClr val="94A3B8"/>
                </a:solidFill>
                <a:latin typeface="Noto Sans SC" panose="020B0200000000000000" charset="-122"/>
              </a:rPr>
              <a:t>售后总部</a:t>
            </a:r>
            <a:r>
              <a:rPr sz="1350" b="0" i="0" u="none">
                <a:solidFill>
                  <a:srgbClr val="94A3B8"/>
                </a:solidFill>
                <a:latin typeface="Noto Sans SC" panose="020B0200000000000000" charset="-122"/>
              </a:rPr>
              <a:t>及各</a:t>
            </a:r>
            <a:r>
              <a:rPr lang="zh-CN" sz="1350" b="0" i="0" u="none">
                <a:solidFill>
                  <a:srgbClr val="94A3B8"/>
                </a:solidFill>
                <a:latin typeface="Noto Sans SC" panose="020B0200000000000000" charset="-122"/>
              </a:rPr>
              <a:t>分支机构</a:t>
            </a:r>
            <a:r>
              <a:rPr sz="1350" b="0" i="0" u="none">
                <a:solidFill>
                  <a:srgbClr val="94A3B8"/>
                </a:solidFill>
                <a:latin typeface="Noto Sans SC" panose="020B0200000000000000" charset="-122"/>
              </a:rPr>
              <a:t>仓库管理 · 全员严格执行</a:t>
            </a:r>
            <a:endParaRPr sz="1350" b="0" i="0" u="none">
              <a:solidFill>
                <a:srgbClr val="94A3B8"/>
              </a:solidFill>
              <a:latin typeface="Noto Sans SC" panose="020B0200000000000000" charset="-122"/>
            </a:endParaRPr>
          </a:p>
        </p:txBody>
      </p:sp>
      <p:sp>
        <p:nvSpPr>
          <p:cNvPr id="7" name="TextBox 6"/>
          <p:cNvSpPr txBox="1"/>
          <p:nvPr/>
        </p:nvSpPr>
        <p:spPr>
          <a:xfrm>
            <a:off x="1257300" y="3152775"/>
            <a:ext cx="5476875" cy="285750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1650" b="1" i="0" u="none">
                <a:solidFill>
                  <a:srgbClr val="38BDF8"/>
                </a:solidFill>
                <a:latin typeface="Noto Sans SC" panose="020B0200000000000000" charset="-122"/>
              </a:rPr>
              <a:t>一、</a:t>
            </a:r>
            <a:r>
              <a:rPr sz="1650" b="1" i="0" u="none">
                <a:solidFill>
                  <a:srgbClr val="FFFFFF"/>
                </a:solidFill>
                <a:latin typeface="Noto Sans SC" panose="020B0200000000000000" charset="-122"/>
              </a:rPr>
              <a:t>四大分区定库位，配套就近免奔波</a:t>
            </a:r>
            <a:endParaRPr sz="1650" b="1" i="0" u="none">
              <a:solidFill>
                <a:srgbClr val="FFFFFF"/>
              </a:solidFill>
              <a:latin typeface="Noto Sans SC" panose="020B0200000000000000" charset="-122"/>
            </a:endParaRPr>
          </a:p>
        </p:txBody>
      </p:sp>
      <p:sp>
        <p:nvSpPr>
          <p:cNvPr id="8" name="TextBox 7"/>
          <p:cNvSpPr txBox="1"/>
          <p:nvPr/>
        </p:nvSpPr>
        <p:spPr>
          <a:xfrm>
            <a:off x="1257300" y="3629025"/>
            <a:ext cx="5476875" cy="285750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1650" b="1" i="0" u="none">
                <a:solidFill>
                  <a:srgbClr val="38BDF8"/>
                </a:solidFill>
                <a:latin typeface="Noto Sans SC" panose="020B0200000000000000" charset="-122"/>
              </a:rPr>
              <a:t>二、</a:t>
            </a:r>
            <a:r>
              <a:rPr sz="1650" b="1" i="0" u="none">
                <a:solidFill>
                  <a:srgbClr val="FFFFFF"/>
                </a:solidFill>
                <a:latin typeface="Noto Sans SC" panose="020B0200000000000000" charset="-122"/>
              </a:rPr>
              <a:t>两轮三轮分区放，前叉车把合架陈</a:t>
            </a:r>
            <a:endParaRPr sz="1650" b="1" i="0" u="none">
              <a:solidFill>
                <a:srgbClr val="FFFFFF"/>
              </a:solidFill>
              <a:latin typeface="Noto Sans SC" panose="020B0200000000000000" charset="-122"/>
            </a:endParaRPr>
          </a:p>
        </p:txBody>
      </p:sp>
      <p:sp>
        <p:nvSpPr>
          <p:cNvPr id="9" name="TextBox 8"/>
          <p:cNvSpPr txBox="1"/>
          <p:nvPr/>
        </p:nvSpPr>
        <p:spPr>
          <a:xfrm>
            <a:off x="1257300" y="4105275"/>
            <a:ext cx="5476875" cy="285750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1650" b="1" i="0" u="none">
                <a:solidFill>
                  <a:srgbClr val="38BDF8"/>
                </a:solidFill>
                <a:latin typeface="Noto Sans SC" panose="020B0200000000000000" charset="-122"/>
              </a:rPr>
              <a:t>三、</a:t>
            </a:r>
            <a:r>
              <a:rPr sz="1650" b="1" i="0" u="none">
                <a:solidFill>
                  <a:srgbClr val="FFFFFF"/>
                </a:solidFill>
                <a:latin typeface="Noto Sans SC" panose="020B0200000000000000" charset="-122"/>
              </a:rPr>
              <a:t>拆零散件入黑筐，原厂整箱直接码</a:t>
            </a:r>
            <a:endParaRPr sz="1650" b="1" i="0" u="none">
              <a:solidFill>
                <a:srgbClr val="FFFFFF"/>
              </a:solidFill>
              <a:latin typeface="Noto Sans SC" panose="020B0200000000000000" charset="-122"/>
            </a:endParaRPr>
          </a:p>
        </p:txBody>
      </p:sp>
      <p:sp>
        <p:nvSpPr>
          <p:cNvPr id="10" name="TextBox 9"/>
          <p:cNvSpPr txBox="1"/>
          <p:nvPr/>
        </p:nvSpPr>
        <p:spPr>
          <a:xfrm>
            <a:off x="6553200" y="3152775"/>
            <a:ext cx="5476875" cy="285750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1650" b="1" i="0" u="none">
                <a:solidFill>
                  <a:srgbClr val="F59E0B"/>
                </a:solidFill>
                <a:latin typeface="Noto Sans SC" panose="020B0200000000000000" charset="-122"/>
              </a:rPr>
              <a:t>四、</a:t>
            </a:r>
            <a:r>
              <a:rPr sz="1650" b="1" i="0" u="none">
                <a:solidFill>
                  <a:srgbClr val="FFFFFF"/>
                </a:solidFill>
                <a:latin typeface="Noto Sans SC" panose="020B0200000000000000" charset="-122"/>
              </a:rPr>
              <a:t>周转筐贴中西标，横梁黄胶写车型</a:t>
            </a:r>
            <a:endParaRPr sz="1650" b="1" i="0" u="none">
              <a:solidFill>
                <a:srgbClr val="FFFFFF"/>
              </a:solidFill>
              <a:latin typeface="Noto Sans SC" panose="020B0200000000000000" charset="-122"/>
            </a:endParaRPr>
          </a:p>
        </p:txBody>
      </p:sp>
      <p:sp>
        <p:nvSpPr>
          <p:cNvPr id="11" name="TextBox 10"/>
          <p:cNvSpPr txBox="1"/>
          <p:nvPr/>
        </p:nvSpPr>
        <p:spPr>
          <a:xfrm>
            <a:off x="6553200" y="3629025"/>
            <a:ext cx="5476875" cy="285750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1650" b="1" i="0" u="none">
                <a:solidFill>
                  <a:srgbClr val="F59E0B"/>
                </a:solidFill>
                <a:latin typeface="Noto Sans SC" panose="020B0200000000000000" charset="-122"/>
              </a:rPr>
              <a:t>五、</a:t>
            </a:r>
            <a:r>
              <a:rPr sz="1650" b="1" i="0" u="none">
                <a:solidFill>
                  <a:srgbClr val="FFFFFF"/>
                </a:solidFill>
                <a:latin typeface="Noto Sans SC" panose="020B0200000000000000" charset="-122"/>
              </a:rPr>
              <a:t>到货必核三要素，规格料号与数量</a:t>
            </a:r>
            <a:endParaRPr sz="1650" b="1" i="0" u="none">
              <a:solidFill>
                <a:srgbClr val="FFFFFF"/>
              </a:solidFill>
              <a:latin typeface="Noto Sans SC" panose="020B0200000000000000" charset="-122"/>
            </a:endParaRPr>
          </a:p>
        </p:txBody>
      </p:sp>
      <p:sp>
        <p:nvSpPr>
          <p:cNvPr id="12" name="TextBox 11"/>
          <p:cNvSpPr txBox="1"/>
          <p:nvPr/>
        </p:nvSpPr>
        <p:spPr>
          <a:xfrm>
            <a:off x="6553200" y="4105275"/>
            <a:ext cx="5476875" cy="285750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1650" b="1" i="0" u="none">
                <a:solidFill>
                  <a:srgbClr val="F59E0B"/>
                </a:solidFill>
                <a:latin typeface="Noto Sans SC" panose="020B0200000000000000" charset="-122"/>
              </a:rPr>
              <a:t>六、</a:t>
            </a:r>
            <a:r>
              <a:rPr sz="1650" b="1" i="0" u="none">
                <a:solidFill>
                  <a:srgbClr val="FFFFFF"/>
                </a:solidFill>
                <a:latin typeface="Noto Sans SC" panose="020B0200000000000000" charset="-122"/>
              </a:rPr>
              <a:t>增减挂卡实时算，账物相符免盲盘</a:t>
            </a:r>
            <a:endParaRPr sz="1650" b="1" i="0" u="none">
              <a:solidFill>
                <a:srgbClr val="FFFFFF"/>
              </a:solidFill>
              <a:latin typeface="Noto Sans SC" panose="020B0200000000000000" charset="-122"/>
            </a:endParaRPr>
          </a:p>
        </p:txBody>
      </p:sp>
    </p:spTree>
  </p:cSld>
  <p:clrMapOvr>
    <a:masterClrMapping/>
  </p:clrMapOvr>
</p:sld>
</file>

<file path=ppt/tags/tag1.xml><?xml version="1.0" encoding="utf-8"?>
<p:tagLst xmlns:p="http://schemas.openxmlformats.org/presentationml/2006/main">
  <p:tag name="KSO_WM_DIAGRAM_VIRTUALLY_FRAME" val="{&quot;height&quot;:161.25,&quot;left&quot;:48,&quot;top&quot;:225,&quot;width&quot;:898.0311811023621}"/>
</p:tagLst>
</file>

<file path=ppt/tags/tag2.xml><?xml version="1.0" encoding="utf-8"?>
<p:tagLst xmlns:p="http://schemas.openxmlformats.org/presentationml/2006/main">
  <p:tag name="KSO_WM_DIAGRAM_VIRTUALLY_FRAME" val="{&quot;height&quot;:161.25,&quot;left&quot;:48,&quot;top&quot;:225,&quot;width&quot;:898.0311811023621}"/>
</p:tagLst>
</file>

<file path=ppt/tags/tag3.xml><?xml version="1.0" encoding="utf-8"?>
<p:tagLst xmlns:p="http://schemas.openxmlformats.org/presentationml/2006/main">
  <p:tag name="KSO_WM_DIAGRAM_VIRTUALLY_FRAME" val="{&quot;height&quot;:161.25,&quot;left&quot;:48,&quot;top&quot;:225,&quot;width&quot;:898.0311811023621}"/>
</p:tagLst>
</file>

<file path=ppt/tags/tag4.xml><?xml version="1.0" encoding="utf-8"?>
<p:tagLst xmlns:p="http://schemas.openxmlformats.org/presentationml/2006/main">
  <p:tag name="KSO_WM_DIAGRAM_VIRTUALLY_FRAME" val="{&quot;height&quot;:161.25,&quot;left&quot;:48,&quot;top&quot;:225,&quot;width&quot;:898.0311811023621}"/>
</p:tagLst>
</file>

<file path=ppt/tags/tag5.xml><?xml version="1.0" encoding="utf-8"?>
<p:tagLst xmlns:p="http://schemas.openxmlformats.org/presentationml/2006/main">
  <p:tag name="KSO_WM_DIAGRAM_VIRTUALLY_FRAME" val="{&quot;height&quot;:161.25,&quot;left&quot;:48,&quot;top&quot;:225,&quot;width&quot;:898.0311811023621}"/>
</p:tagLst>
</file>

<file path=ppt/tags/tag6.xml><?xml version="1.0" encoding="utf-8"?>
<p:tagLst xmlns:p="http://schemas.openxmlformats.org/presentationml/2006/main">
  <p:tag name="KSO_WM_DIAGRAM_VIRTUALLY_FRAME" val="{&quot;height&quot;:161.25,&quot;left&quot;:48,&quot;top&quot;:225,&quot;width&quot;:898.0311811023621}"/>
</p:tagLst>
</file>

<file path=ppt/tags/tag7.xml><?xml version="1.0" encoding="utf-8"?>
<p:tagLst xmlns:p="http://schemas.openxmlformats.org/presentationml/2006/main">
  <p:tag name="KSO_WM_DIAGRAM_VIRTUALLY_FRAME" val="{&quot;height&quot;:161.25,&quot;left&quot;:48,&quot;top&quot;:225,&quot;width&quot;:898.0311811023621}"/>
</p:tagLst>
</file>

<file path=ppt/tags/tag8.xml><?xml version="1.0" encoding="utf-8"?>
<p:tagLst xmlns:p="http://schemas.openxmlformats.org/presentationml/2006/main">
  <p:tag name="KSO_WM_DIAGRAM_VIRTUALLY_FRAME" val="{&quot;height&quot;:161.25,&quot;left&quot;:48,&quot;top&quot;:225,&quot;width&quot;:898.0311811023621}"/>
</p:tagLst>
</file>

<file path=ppt/tags/tag9.xml><?xml version="1.0" encoding="utf-8"?>
<p:tagLst xmlns:p="http://schemas.openxmlformats.org/presentationml/2006/main">
  <p:tag name="KSO_WM_DIAGRAM_VIRTUALLY_FRAME" val="{&quot;height&quot;:161.25,&quot;left&quot;:48,&quot;top&quot;:225,&quot;width&quot;:898.0311811023621}"/>
</p:tagLst>
</file>

<file path=ppt/tags/tag10.xml><?xml version="1.0" encoding="utf-8"?>
<p:tagLst xmlns:p="http://schemas.openxmlformats.org/presentationml/2006/main">
  <p:tag name="KSO_WM_DIAGRAM_VIRTUALLY_FRAME" val="{&quot;height&quot;:161.25,&quot;left&quot;:48,&quot;top&quot;:225,&quot;width&quot;:898.0311811023621}"/>
</p:tagLst>
</file>

<file path=ppt/tags/tag11.xml><?xml version="1.0" encoding="utf-8"?>
<p:tagLst xmlns:p="http://schemas.openxmlformats.org/presentationml/2006/main">
  <p:tag name="KSO_WM_DIAGRAM_VIRTUALLY_FRAME" val="{&quot;height&quot;:161.25,&quot;left&quot;:48,&quot;top&quot;:225,&quot;width&quot;:898.0311811023621}"/>
</p:tagLst>
</file>

<file path=ppt/tags/tag12.xml><?xml version="1.0" encoding="utf-8"?>
<p:tagLst xmlns:p="http://schemas.openxmlformats.org/presentationml/2006/main">
  <p:tag name="KSO_WM_DIAGRAM_VIRTUALLY_FRAME" val="{&quot;height&quot;:161.25,&quot;left&quot;:48,&quot;top&quot;:225,&quot;width&quot;:898.0311811023621}"/>
</p:tagLst>
</file>

<file path=ppt/tags/tag13.xml><?xml version="1.0" encoding="utf-8"?>
<p:tagLst xmlns:p="http://schemas.openxmlformats.org/presentationml/2006/main">
  <p:tag name="KSO_WM_DIAGRAM_VIRTUALLY_FRAME" val="{&quot;height&quot;:161.25,&quot;left&quot;:48,&quot;top&quot;:225,&quot;width&quot;:898.0311811023621}"/>
</p:tagLst>
</file>

<file path=ppt/tags/tag14.xml><?xml version="1.0" encoding="utf-8"?>
<p:tagLst xmlns:p="http://schemas.openxmlformats.org/presentationml/2006/main">
  <p:tag name="KSO_WM_DIAGRAM_VIRTUALLY_FRAME" val="{&quot;height&quot;:161.25,&quot;left&quot;:48,&quot;top&quot;:225,&quot;width&quot;:898.0311811023621}"/>
</p:tagLst>
</file>

<file path=ppt/tags/tag15.xml><?xml version="1.0" encoding="utf-8"?>
<p:tagLst xmlns:p="http://schemas.openxmlformats.org/presentationml/2006/main">
  <p:tag name="KSO_WM_DIAGRAM_VIRTUALLY_FRAME" val="{&quot;height&quot;:161.25,&quot;left&quot;:48,&quot;top&quot;:225,&quot;width&quot;:898.0311811023621}"/>
</p:tagLst>
</file>

<file path=ppt/tags/tag16.xml><?xml version="1.0" encoding="utf-8"?>
<p:tagLst xmlns:p="http://schemas.openxmlformats.org/presentationml/2006/main">
  <p:tag name="KSO_WM_DIAGRAM_VIRTUALLY_FRAME" val="{&quot;height&quot;:161.25,&quot;left&quot;:48,&quot;top&quot;:225,&quot;width&quot;:898.0311811023621}"/>
</p:tagLst>
</file>

<file path=ppt/tags/tag17.xml><?xml version="1.0" encoding="utf-8"?>
<p:tagLst xmlns:p="http://schemas.openxmlformats.org/presentationml/2006/main">
  <p:tag name="KSO_WM_DIAGRAM_VIRTUALLY_FRAME" val="{&quot;height&quot;:360,&quot;left&quot;:438.77047244094484,&quot;top&quot;:124.87496062992122,&quot;width&quot;:500.3729921259843}"/>
</p:tagLst>
</file>

<file path=ppt/tags/tag18.xml><?xml version="1.0" encoding="utf-8"?>
<p:tagLst xmlns:p="http://schemas.openxmlformats.org/presentationml/2006/main">
  <p:tag name="KSO_WM_DIAGRAM_VIRTUALLY_FRAME" val="{&quot;height&quot;:360,&quot;left&quot;:438.77047244094484,&quot;top&quot;:124.87496062992122,&quot;width&quot;:500.3729921259843}"/>
</p:tagLst>
</file>

<file path=ppt/tags/tag19.xml><?xml version="1.0" encoding="utf-8"?>
<p:tagLst xmlns:p="http://schemas.openxmlformats.org/presentationml/2006/main">
  <p:tag name="KSO_WM_DIAGRAM_VIRTUALLY_FRAME" val="{&quot;height&quot;:360,&quot;left&quot;:438.77047244094484,&quot;top&quot;:124.87496062992122,&quot;width&quot;:500.3729921259843}"/>
</p:tagLst>
</file>

<file path=ppt/tags/tag20.xml><?xml version="1.0" encoding="utf-8"?>
<p:tagLst xmlns:p="http://schemas.openxmlformats.org/presentationml/2006/main">
  <p:tag name="KSO_WM_DIAGRAM_VIRTUALLY_FRAME" val="{&quot;height&quot;:360,&quot;left&quot;:438.77047244094484,&quot;top&quot;:124.87496062992122,&quot;width&quot;:500.3729921259843}"/>
</p:tagLst>
</file>

<file path=ppt/tags/tag21.xml><?xml version="1.0" encoding="utf-8"?>
<p:tagLst xmlns:p="http://schemas.openxmlformats.org/presentationml/2006/main">
  <p:tag name="KSO_WM_DIAGRAM_VIRTUALLY_FRAME" val="{&quot;height&quot;:360,&quot;left&quot;:438.77047244094484,&quot;top&quot;:124.87496062992122,&quot;width&quot;:500.3729921259843}"/>
</p:tagLst>
</file>

<file path=ppt/tags/tag22.xml><?xml version="1.0" encoding="utf-8"?>
<p:tagLst xmlns:p="http://schemas.openxmlformats.org/presentationml/2006/main">
  <p:tag name="KSO_WM_DIAGRAM_VIRTUALLY_FRAME" val="{&quot;height&quot;:360,&quot;left&quot;:438.77047244094484,&quot;top&quot;:124.87496062992122,&quot;width&quot;:500.3729921259843}"/>
</p:tagLst>
</file>

<file path=ppt/tags/tag23.xml><?xml version="1.0" encoding="utf-8"?>
<p:tagLst xmlns:p="http://schemas.openxmlformats.org/presentationml/2006/main">
  <p:tag name="KSO_WM_DIAGRAM_VIRTUALLY_FRAME" val="{&quot;height&quot;:316.5,&quot;left&quot;:48,&quot;top&quot;:146.62496062992125,&quot;width&quot;:912}"/>
</p:tagLst>
</file>

<file path=ppt/tags/tag24.xml><?xml version="1.0" encoding="utf-8"?>
<p:tagLst xmlns:p="http://schemas.openxmlformats.org/presentationml/2006/main">
  <p:tag name="KSO_WM_DIAGRAM_VIRTUALLY_FRAME" val="{&quot;height&quot;:316.5,&quot;left&quot;:48,&quot;top&quot;:146.62496062992125,&quot;width&quot;:912}"/>
</p:tagLst>
</file>

<file path=ppt/tags/tag25.xml><?xml version="1.0" encoding="utf-8"?>
<p:tagLst xmlns:p="http://schemas.openxmlformats.org/presentationml/2006/main">
  <p:tag name="KSO_WM_DIAGRAM_VIRTUALLY_FRAME" val="{&quot;height&quot;:316.5,&quot;left&quot;:48,&quot;top&quot;:146.62496062992125,&quot;width&quot;:912}"/>
</p:tagLst>
</file>

<file path=ppt/tags/tag26.xml><?xml version="1.0" encoding="utf-8"?>
<p:tagLst xmlns:p="http://schemas.openxmlformats.org/presentationml/2006/main">
  <p:tag name="KSO_WM_DIAGRAM_VIRTUALLY_FRAME" val="{&quot;height&quot;:316.5,&quot;left&quot;:48,&quot;top&quot;:146.62496062992125,&quot;width&quot;:912}"/>
</p:tagLst>
</file>

<file path=ppt/tags/tag27.xml><?xml version="1.0" encoding="utf-8"?>
<p:tagLst xmlns:p="http://schemas.openxmlformats.org/presentationml/2006/main">
  <p:tag name="KSO_WM_DIAGRAM_VIRTUALLY_FRAME" val="{&quot;height&quot;:316.5,&quot;left&quot;:48,&quot;top&quot;:146.62496062992125,&quot;width&quot;:912}"/>
</p:tagLst>
</file>

<file path=ppt/tags/tag28.xml><?xml version="1.0" encoding="utf-8"?>
<p:tagLst xmlns:p="http://schemas.openxmlformats.org/presentationml/2006/main">
  <p:tag name="KSO_WM_DIAGRAM_VIRTUALLY_FRAME" val="{&quot;height&quot;:316.5,&quot;left&quot;:48,&quot;top&quot;:146.62496062992125,&quot;width&quot;:912}"/>
</p:tagLst>
</file>

<file path=ppt/tags/tag29.xml><?xml version="1.0" encoding="utf-8"?>
<p:tagLst xmlns:p="http://schemas.openxmlformats.org/presentationml/2006/main">
  <p:tag name="KSO_WM_DIAGRAM_VIRTUALLY_FRAME" val="{&quot;height&quot;:316.5,&quot;left&quot;:48,&quot;top&quot;:146.62496062992125,&quot;width&quot;:912}"/>
</p:tagLst>
</file>

<file path=ppt/tags/tag30.xml><?xml version="1.0" encoding="utf-8"?>
<p:tagLst xmlns:p="http://schemas.openxmlformats.org/presentationml/2006/main">
  <p:tag name="KSO_WM_DIAGRAM_VIRTUALLY_FRAME" val="{&quot;height&quot;:316.5,&quot;left&quot;:48,&quot;top&quot;:146.62496062992125,&quot;width&quot;:912}"/>
</p:tagLst>
</file>

<file path=ppt/tags/tag31.xml><?xml version="1.0" encoding="utf-8"?>
<p:tagLst xmlns:p="http://schemas.openxmlformats.org/presentationml/2006/main">
  <p:tag name="KSO_WM_DIAGRAM_VIRTUALLY_FRAME" val="{&quot;height&quot;:324,&quot;left&quot;:483.59763779527555,&quot;top&quot;:142.87496062992125,&quot;width&quot;:476.4022834645669}"/>
</p:tagLst>
</file>

<file path=ppt/tags/tag32.xml><?xml version="1.0" encoding="utf-8"?>
<p:tagLst xmlns:p="http://schemas.openxmlformats.org/presentationml/2006/main">
  <p:tag name="KSO_WM_DIAGRAM_VIRTUALLY_FRAME" val="{&quot;height&quot;:324,&quot;left&quot;:483.59763779527555,&quot;top&quot;:142.87496062992125,&quot;width&quot;:476.4022834645669}"/>
</p:tagLst>
</file>

<file path=ppt/tags/tag33.xml><?xml version="1.0" encoding="utf-8"?>
<p:tagLst xmlns:p="http://schemas.openxmlformats.org/presentationml/2006/main">
  <p:tag name="KSO_WM_DIAGRAM_VIRTUALLY_FRAME" val="{&quot;height&quot;:324,&quot;left&quot;:483.59763779527555,&quot;top&quot;:142.87496062992125,&quot;width&quot;:476.4022834645669}"/>
</p:tagLst>
</file>

<file path=ppt/tags/tag34.xml><?xml version="1.0" encoding="utf-8"?>
<p:tagLst xmlns:p="http://schemas.openxmlformats.org/presentationml/2006/main">
  <p:tag name="KSO_WM_DIAGRAM_VIRTUALLY_FRAME" val="{&quot;height&quot;:324,&quot;left&quot;:483.59763779527555,&quot;top&quot;:142.87496062992125,&quot;width&quot;:476.4022834645669}"/>
</p:tagLst>
</file>

<file path=ppt/tags/tag35.xml><?xml version="1.0" encoding="utf-8"?>
<p:tagLst xmlns:p="http://schemas.openxmlformats.org/presentationml/2006/main">
  <p:tag name="KSO_WM_DIAGRAM_VIRTUALLY_FRAME" val="{&quot;height&quot;:324,&quot;left&quot;:483.59763779527555,&quot;top&quot;:142.87496062992125,&quot;width&quot;:476.4022834645669}"/>
</p:tagLst>
</file>

<file path=ppt/tags/tag36.xml><?xml version="1.0" encoding="utf-8"?>
<p:tagLst xmlns:p="http://schemas.openxmlformats.org/presentationml/2006/main">
  <p:tag name="KSO_WM_DIAGRAM_VIRTUALLY_FRAME" val="{&quot;height&quot;:324,&quot;left&quot;:483.59763779527555,&quot;top&quot;:142.87496062992125,&quot;width&quot;:476.4022834645669}"/>
</p:tagLst>
</file>

<file path=ppt/tags/tag37.xml><?xml version="1.0" encoding="utf-8"?>
<p:tagLst xmlns:p="http://schemas.openxmlformats.org/presentationml/2006/main">
  <p:tag name="KSO_WM_DIAGRAM_VIRTUALLY_FRAME" val="{&quot;height&quot;:324,&quot;left&quot;:483.59763779527555,&quot;top&quot;:142.87496062992125,&quot;width&quot;:476.4022834645669}"/>
</p:tagLst>
</file>

<file path=ppt/tags/tag38.xml><?xml version="1.0" encoding="utf-8"?>
<p:tagLst xmlns:p="http://schemas.openxmlformats.org/presentationml/2006/main">
  <p:tag name="KSO_WM_DIAGRAM_VIRTUALLY_FRAME" val="{&quot;height&quot;:324,&quot;left&quot;:483.59763779527555,&quot;top&quot;:142.87496062992125,&quot;width&quot;:476.4022834645669}"/>
</p:tagLst>
</file>

<file path=ppt/tags/tag39.xml><?xml version="1.0" encoding="utf-8"?>
<p:tagLst xmlns:p="http://schemas.openxmlformats.org/presentationml/2006/main">
  <p:tag name="KSO_WM_DIAGRAM_VIRTUALLY_FRAME" val="{&quot;height&quot;:324,&quot;left&quot;:483.59763779527555,&quot;top&quot;:142.87496062992125,&quot;width&quot;:476.4022834645669}"/>
</p:tagLst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2688</Words>
  <Application>WPS 演示</Application>
  <PresentationFormat>On-screen Show (4:3)</PresentationFormat>
  <Paragraphs>262</Paragraphs>
  <Slides>13</Slides>
  <Notes>0</Notes>
  <HiddenSlides>0</HiddenSlides>
  <MMClips>0</MMClips>
  <ScaleCrop>false</ScaleCrop>
  <HeadingPairs>
    <vt:vector size="6" baseType="variant">
      <vt:variant>
        <vt:lpstr>已用的字体</vt:lpstr>
      </vt:variant>
      <vt:variant>
        <vt:i4>8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13</vt:i4>
      </vt:variant>
    </vt:vector>
  </HeadingPairs>
  <TitlesOfParts>
    <vt:vector size="22" baseType="lpstr">
      <vt:lpstr>Arial</vt:lpstr>
      <vt:lpstr>宋体</vt:lpstr>
      <vt:lpstr>Wingdings</vt:lpstr>
      <vt:lpstr>Arial</vt:lpstr>
      <vt:lpstr>Noto Sans SC</vt:lpstr>
      <vt:lpstr>Calibri</vt:lpstr>
      <vt:lpstr>微软雅黑</vt:lpstr>
      <vt:lpstr>Arial Unicode MS</vt:lpstr>
      <vt:lpstr>Office Theme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</vt:vector>
  </TitlesOfParts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/>
  <dc:description>generated using python-pptx</dc:description>
  <cp:lastModifiedBy>杜幸坡</cp:lastModifiedBy>
  <cp:revision>2</cp:revision>
  <dcterms:created xsi:type="dcterms:W3CDTF">2013-01-27T09:14:00Z</dcterms:created>
  <dcterms:modified xsi:type="dcterms:W3CDTF">2026-10-31T18:40:55Z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KSOProductBuildVer">
    <vt:lpwstr>2052-12.1.0.28488</vt:lpwstr>
  </property>
  <property fmtid="{D5CDD505-2E9C-101B-9397-08002B2CF9AE}" pid="3" name="ICV">
    <vt:lpwstr>35CD09BF4E704CC68AA053E1218386D4_12</vt:lpwstr>
  </property>
</Properties>
</file>